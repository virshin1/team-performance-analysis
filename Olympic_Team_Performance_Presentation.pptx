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657600"/>
          </a:xfrm>
          <a:prstGeom prst="rect">
            <a:avLst/>
          </a:prstGeom>
          <a:noFill/>
        </p:spPr>
        <p:txBody>
          <a:bodyPr wrap="square">
            <a:spAutoFit/>
          </a:bodyPr>
          <a:lstStyle/>
          <a:p>
            <a:pPr>
              <a:defRPr sz="1200" b="1">
                <a:solidFill>
                  <a:srgbClr val="93C5FD"/>
                </a:solidFill>
              </a:defRPr>
            </a:pPr>
            <a:r>
              <a:t>ACADEMIC MACHINE LEARNING PROJECT &amp; DEFENSE</a:t>
            </a:r>
          </a:p>
          <a:p>
            <a:pPr>
              <a:spcBef>
                <a:spcPts val="1000"/>
              </a:spcBef>
              <a:defRPr sz="3600" b="1">
                <a:solidFill>
                  <a:srgbClr val="FFFFFF"/>
                </a:solidFill>
              </a:defRPr>
            </a:pPr>
            <a:r>
              <a:t>Team Performance Analysis:</a:t>
            </a:r>
          </a:p>
          <a:p>
            <a:pPr>
              <a:spcBef>
                <a:spcPts val="400"/>
              </a:spcBef>
              <a:defRPr sz="2600" b="0">
                <a:solidFill>
                  <a:srgbClr val="CBD5E1"/>
                </a:solidFill>
              </a:defRPr>
            </a:pPr>
            <a:r>
              <a:t>Empirical Factors Associated with Stronger Olympic Results</a:t>
            </a:r>
          </a:p>
          <a:p>
            <a:pPr>
              <a:spcBef>
                <a:spcPts val="2400"/>
              </a:spcBef>
              <a:defRPr sz="1400">
                <a:solidFill>
                  <a:srgbClr val="94A3B8"/>
                </a:solidFill>
              </a:defRPr>
            </a:pPr>
            <a:r>
              <a:t>A Dual-Target Machine Learning Investigation using Random Forest &amp; Gradient Boosting</a:t>
            </a:r>
          </a:p>
          <a:p>
            <a:pPr>
              <a:spcBef>
                <a:spcPts val="3000"/>
              </a:spcBef>
              <a:defRPr sz="1100">
                <a:solidFill>
                  <a:srgbClr val="CBD5E1"/>
                </a:solidFill>
              </a:defRPr>
            </a:pPr>
            <a:r>
              <a:t>Methodology: Random Forest (MDI &amp; Permutation) | Normal R2 Evaluation | Modern Summer Games (1960-2016)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Problem Definition &amp; Research Objectives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2064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E3A8A"/>
                </a:solidFill>
              </a:defRPr>
            </a:pPr>
            <a:r>
              <a:t>Problem Statement &amp; Context</a:t>
            </a:r>
          </a:p>
          <a:p>
            <a:pPr>
              <a:spcBef>
                <a:spcPts val="1000"/>
              </a:spcBef>
              <a:defRPr b="1" sz="1200">
                <a:solidFill>
                  <a:srgbClr val="0F172A"/>
                </a:solidFill>
              </a:defRPr>
            </a:pPr>
            <a:r>
              <a:t>The Core Mandate: </a:t>
            </a:r>
            <a:r>
              <a:rPr b="0">
                <a:solidFill>
                  <a:srgbClr val="475569"/>
                </a:solidFill>
              </a:rPr>
              <a:t>A national sports organization wants to understand which measurable factors are associated with stronger team results (With Proper Justification).</a:t>
            </a:r>
          </a:p>
          <a:p>
            <a:pPr>
              <a:spcBef>
                <a:spcPts val="1000"/>
              </a:spcBef>
              <a:defRPr b="1" sz="1200">
                <a:solidFill>
                  <a:srgbClr val="0F172A"/>
                </a:solidFill>
              </a:defRPr>
            </a:pPr>
            <a:r>
              <a:t>Real-World Challenge: </a:t>
            </a:r>
            <a:r>
              <a:rPr b="0">
                <a:solidFill>
                  <a:srgbClr val="475569"/>
                </a:solidFill>
              </a:rPr>
              <a:t>National Olympic Committees face finite resource budgets. Should funds be allocated toward specialized physical conditioning, broad athlete quota qualification, or historical discipline dominance?</a:t>
            </a:r>
          </a:p>
          <a:p>
            <a:pPr>
              <a:spcBef>
                <a:spcPts val="1000"/>
              </a:spcBef>
              <a:defRPr b="1" sz="1200">
                <a:solidFill>
                  <a:srgbClr val="0F172A"/>
                </a:solidFill>
              </a:defRPr>
            </a:pPr>
            <a:r>
              <a:t>Dual Problem Formulation: </a:t>
            </a:r>
            <a:r>
              <a:rPr b="0">
                <a:solidFill>
                  <a:srgbClr val="475569"/>
                </a:solidFill>
              </a:rPr>
              <a:t>1. Classification: Predict whether a delegation secures at least one podium medal (has_podium in {0, 1}).
2. Regression: Predict total medal volume (total_medals in [0, 121]).</a:t>
            </a:r>
          </a:p>
          <a:p>
            <a:pPr>
              <a:spcBef>
                <a:spcPts val="1000"/>
              </a:spcBef>
              <a:defRPr b="1" sz="1200">
                <a:solidFill>
                  <a:srgbClr val="0F172A"/>
                </a:solidFill>
              </a:defRPr>
            </a:pPr>
            <a:r>
              <a:t>Guiding Requirement: </a:t>
            </a:r>
            <a:r>
              <a:rPr b="0">
                <a:solidFill>
                  <a:srgbClr val="475569"/>
                </a:solidFill>
              </a:rPr>
              <a:t>Provide rigorous statistical justification and empirical feature importance rankings rather than intuition-driven assumptions.</a:t>
            </a:r>
          </a:p>
        </p:txBody>
      </p:sp>
      <p:sp>
        <p:nvSpPr>
          <p:cNvPr id="6" name="Rounded Rectangle 5"/>
          <p:cNvSpPr/>
          <p:nvPr/>
        </p:nvSpPr>
        <p:spPr>
          <a:xfrm>
            <a:off x="6217920" y="1554480"/>
            <a:ext cx="521208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E3A8A"/>
                </a:solidFill>
              </a:defRPr>
            </a:pPr>
            <a:r>
              <a:t>Key Project Deliverables</a:t>
            </a:r>
          </a:p>
          <a:p>
            <a:pPr>
              <a:spcBef>
                <a:spcPts val="1000"/>
              </a:spcBef>
              <a:defRPr b="1" sz="1200">
                <a:solidFill>
                  <a:srgbClr val="0F172A"/>
                </a:solidFill>
              </a:defRPr>
            </a:pPr>
            <a:r>
              <a:t>Rigorous Dataset Construction: </a:t>
            </a:r>
            <a:r>
              <a:rPr b="0">
                <a:solidFill>
                  <a:srgbClr val="475569"/>
                </a:solidFill>
              </a:rPr>
              <a:t>Aggregated 2,264 delegation-year observations across 223 NOCs from 15 Summer Olympic Games (1960 to 2016).</a:t>
            </a:r>
          </a:p>
          <a:p>
            <a:pPr>
              <a:spcBef>
                <a:spcPts val="1000"/>
              </a:spcBef>
              <a:defRPr b="1" sz="1200">
                <a:solidFill>
                  <a:srgbClr val="0F172A"/>
                </a:solidFill>
              </a:defRPr>
            </a:pPr>
            <a:r>
              <a:t>Zero Data Leakage Pipeline: </a:t>
            </a:r>
            <a:r>
              <a:rPr b="0">
                <a:solidFill>
                  <a:srgbClr val="475569"/>
                </a:solidFill>
              </a:rPr>
              <a:t>All temporal lag calculations and StandardScaler parameters fitted strictly on the Training set (80/20 stratified split).</a:t>
            </a:r>
          </a:p>
          <a:p>
            <a:pPr>
              <a:spcBef>
                <a:spcPts val="1000"/>
              </a:spcBef>
              <a:defRPr b="1" sz="1200">
                <a:solidFill>
                  <a:srgbClr val="0F172A"/>
                </a:solidFill>
              </a:defRPr>
            </a:pPr>
            <a:r>
              <a:t>Single Best Algorithm Selection: </a:t>
            </a:r>
            <a:r>
              <a:rPr b="0">
                <a:solidFill>
                  <a:srgbClr val="475569"/>
                </a:solidFill>
              </a:rPr>
              <a:t>Deploys Random Forest (200 estimators) for robust non-linear feature partitioning and intrinsic Gini importance.</a:t>
            </a:r>
          </a:p>
          <a:p>
            <a:pPr>
              <a:spcBef>
                <a:spcPts val="1000"/>
              </a:spcBef>
              <a:defRPr b="1" sz="1200">
                <a:solidFill>
                  <a:srgbClr val="0F172A"/>
                </a:solidFill>
              </a:defRPr>
            </a:pPr>
            <a:r>
              <a:t>Normal R2 &amp; Metrics: </a:t>
            </a:r>
            <a:r>
              <a:rPr b="0">
                <a:solidFill>
                  <a:srgbClr val="475569"/>
                </a:solidFill>
              </a:rPr>
              <a:t>Evaluated using standard Train R2 and Test R2 rather than cross-validation R2 averaging, matching exam specifications.</a:t>
            </a:r>
          </a:p>
          <a:p>
            <a:pPr>
              <a:spcBef>
                <a:spcPts val="1000"/>
              </a:spcBef>
              <a:defRPr b="1" sz="1200">
                <a:solidFill>
                  <a:srgbClr val="0F172A"/>
                </a:solidFill>
              </a:defRPr>
            </a:pPr>
            <a:r>
              <a:t>Interactive Streamlit App: </a:t>
            </a:r>
            <a:r>
              <a:rPr b="0">
                <a:solidFill>
                  <a:srgbClr val="475569"/>
                </a:solidFill>
              </a:rPr>
              <a:t>Production-grade wide dashboard allowing scenario simulations and live factor diagnostics against Olympic benchmarks.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Dataset Architecture &amp; Data Engineering</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2560320" cy="1188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475569"/>
                </a:solidFill>
              </a:defRPr>
            </a:pPr>
            <a:r>
              <a:t>TOTAL OBSERVATIONS</a:t>
            </a:r>
          </a:p>
          <a:p>
            <a:pPr>
              <a:defRPr sz="2000" b="1">
                <a:solidFill>
                  <a:srgbClr val="2563EB"/>
                </a:solidFill>
              </a:defRPr>
            </a:pPr>
            <a:r>
              <a:t>2,264</a:t>
            </a:r>
          </a:p>
          <a:p>
            <a:pPr>
              <a:defRPr sz="850">
                <a:solidFill>
                  <a:srgbClr val="475569"/>
                </a:solidFill>
              </a:defRPr>
            </a:pPr>
            <a:r>
              <a:t>NOC-Games participations</a:t>
            </a:r>
          </a:p>
        </p:txBody>
      </p:sp>
      <p:sp>
        <p:nvSpPr>
          <p:cNvPr id="6" name="Rounded Rectangle 5"/>
          <p:cNvSpPr/>
          <p:nvPr/>
        </p:nvSpPr>
        <p:spPr>
          <a:xfrm>
            <a:off x="3429000" y="1554480"/>
            <a:ext cx="2560320" cy="1188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475569"/>
                </a:solidFill>
              </a:defRPr>
            </a:pPr>
            <a:r>
              <a:t>TEMPORAL WINDOW</a:t>
            </a:r>
          </a:p>
          <a:p>
            <a:pPr>
              <a:defRPr sz="2000" b="1">
                <a:solidFill>
                  <a:srgbClr val="2563EB"/>
                </a:solidFill>
              </a:defRPr>
            </a:pPr>
            <a:r>
              <a:t>1960 - 2016</a:t>
            </a:r>
          </a:p>
          <a:p>
            <a:pPr>
              <a:defRPr sz="850">
                <a:solidFill>
                  <a:srgbClr val="475569"/>
                </a:solidFill>
              </a:defRPr>
            </a:pPr>
            <a:r>
              <a:t>15 Modern Summer Olympiads</a:t>
            </a:r>
          </a:p>
        </p:txBody>
      </p:sp>
      <p:sp>
        <p:nvSpPr>
          <p:cNvPr id="7" name="Rounded Rectangle 6"/>
          <p:cNvSpPr/>
          <p:nvPr/>
        </p:nvSpPr>
        <p:spPr>
          <a:xfrm>
            <a:off x="6126480" y="1554480"/>
            <a:ext cx="2560320" cy="1188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475569"/>
                </a:solidFill>
              </a:defRPr>
            </a:pPr>
            <a:r>
              <a:t>PARTICIPATING NATIONS</a:t>
            </a:r>
          </a:p>
          <a:p>
            <a:pPr>
              <a:defRPr sz="2000" b="1">
                <a:solidFill>
                  <a:srgbClr val="2563EB"/>
                </a:solidFill>
              </a:defRPr>
            </a:pPr>
            <a:r>
              <a:t>223</a:t>
            </a:r>
          </a:p>
          <a:p>
            <a:pPr>
              <a:defRPr sz="850">
                <a:solidFill>
                  <a:srgbClr val="475569"/>
                </a:solidFill>
              </a:defRPr>
            </a:pPr>
            <a:r>
              <a:t>Global National Olympic Committees</a:t>
            </a:r>
          </a:p>
        </p:txBody>
      </p:sp>
      <p:sp>
        <p:nvSpPr>
          <p:cNvPr id="8" name="Rounded Rectangle 7"/>
          <p:cNvSpPr/>
          <p:nvPr/>
        </p:nvSpPr>
        <p:spPr>
          <a:xfrm>
            <a:off x="8823960" y="1554480"/>
            <a:ext cx="2560320" cy="1188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475569"/>
                </a:solidFill>
              </a:defRPr>
            </a:pPr>
            <a:r>
              <a:t>MEDAL BASE RATE</a:t>
            </a:r>
          </a:p>
          <a:p>
            <a:pPr>
              <a:defRPr sz="2000" b="1">
                <a:solidFill>
                  <a:srgbClr val="2563EB"/>
                </a:solidFill>
              </a:defRPr>
            </a:pPr>
            <a:r>
              <a:t>40.06%</a:t>
            </a:r>
          </a:p>
          <a:p>
            <a:pPr>
              <a:defRPr sz="850">
                <a:solidFill>
                  <a:srgbClr val="475569"/>
                </a:solidFill>
              </a:defRPr>
            </a:pPr>
            <a:r>
              <a:t>907 Podium / 1,357 Non-Podium</a:t>
            </a:r>
          </a:p>
        </p:txBody>
      </p:sp>
      <p:sp>
        <p:nvSpPr>
          <p:cNvPr id="9" name="Rounded Rectangle 8"/>
          <p:cNvSpPr/>
          <p:nvPr/>
        </p:nvSpPr>
        <p:spPr>
          <a:xfrm>
            <a:off x="731520" y="2926080"/>
            <a:ext cx="10698480" cy="33832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3A8A"/>
                </a:solidFill>
              </a:defRPr>
            </a:pPr>
            <a:r>
              <a:t>Data Aggregation &amp; Engineering Pipeline</a:t>
            </a:r>
          </a:p>
          <a:p>
            <a:pPr>
              <a:spcBef>
                <a:spcPts val="800"/>
              </a:spcBef>
              <a:defRPr b="1" sz="1100">
                <a:solidFill>
                  <a:srgbClr val="0F172A"/>
                </a:solidFill>
              </a:defRPr>
            </a:pPr>
            <a:r>
              <a:t>Source Extraction: </a:t>
            </a:r>
            <a:r>
              <a:rPr b="0">
                <a:solidFill>
                  <a:srgbClr val="475569"/>
                </a:solidFill>
              </a:rPr>
              <a:t>Extracted from historical Olympic archives covering all modern Summer Olympiads, encompassing over 200,000 individual competitor-event records.</a:t>
            </a:r>
          </a:p>
          <a:p>
            <a:pPr>
              <a:spcBef>
                <a:spcPts val="800"/>
              </a:spcBef>
              <a:defRPr b="1" sz="1100">
                <a:solidFill>
                  <a:srgbClr val="0F172A"/>
                </a:solidFill>
              </a:defRPr>
            </a:pPr>
            <a:r>
              <a:t>Event-Level Deduplication: </a:t>
            </a:r>
            <a:r>
              <a:rPr b="0">
                <a:solidFill>
                  <a:srgbClr val="475569"/>
                </a:solidFill>
              </a:rPr>
              <a:t>Crucial Sports Rule: In team events (e.g., Football 18 players, Rowing 8 crew), all players receive medals, but the delegation only wins ONE official medal. Deduplicated strictly to (Games, Year, Event, Medal).</a:t>
            </a:r>
          </a:p>
          <a:p>
            <a:pPr>
              <a:spcBef>
                <a:spcPts val="800"/>
              </a:spcBef>
              <a:defRPr b="1" sz="1100">
                <a:solidFill>
                  <a:srgbClr val="0F172A"/>
                </a:solidFill>
              </a:defRPr>
            </a:pPr>
            <a:r>
              <a:t>Aggregation Level: </a:t>
            </a:r>
            <a:r>
              <a:rPr b="0">
                <a:solidFill>
                  <a:srgbClr val="475569"/>
                </a:solidFill>
              </a:rPr>
              <a:t>Consolidated to the delegation level per Olympic Games (NOC, Year). Features capture scale, discipline diversity, demographic distributions, and temporal momentum.</a:t>
            </a:r>
          </a:p>
          <a:p>
            <a:pPr>
              <a:spcBef>
                <a:spcPts val="800"/>
              </a:spcBef>
              <a:defRPr b="1" sz="1100">
                <a:solidFill>
                  <a:srgbClr val="0F172A"/>
                </a:solidFill>
              </a:defRPr>
            </a:pPr>
            <a:r>
              <a:t>Biometric Imputation: </a:t>
            </a:r>
            <a:r>
              <a:rPr b="0">
                <a:solidFill>
                  <a:srgbClr val="475569"/>
                </a:solidFill>
              </a:rPr>
              <a:t>Missing height/weight records for early games imputed using discipline-gender median baselines rather than global means, preserving authentic sports body-type distributions.</a:t>
            </a:r>
          </a:p>
          <a:p>
            <a:pPr>
              <a:spcBef>
                <a:spcPts val="800"/>
              </a:spcBef>
              <a:defRPr b="1" sz="1100">
                <a:solidFill>
                  <a:srgbClr val="0F172A"/>
                </a:solidFill>
              </a:defRPr>
            </a:pPr>
            <a:r>
              <a:t>Lagged Momentum Feature: </a:t>
            </a:r>
            <a:r>
              <a:rPr b="0">
                <a:solidFill>
                  <a:srgbClr val="475569"/>
                </a:solidFill>
              </a:rPr>
              <a:t>Engineered prev_medals: Total medals achieved in the prior Olympic cycle for that specific nation, capturing institutional funding and coaching pipeline continuity.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Input Variables: 11 Measurable Delegation Factors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749039"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3A8A"/>
                </a:solidFill>
              </a:defRPr>
            </a:pPr>
            <a:r>
              <a:t>Scale &amp; Workload (4)</a:t>
            </a:r>
          </a:p>
          <a:p>
            <a:pPr>
              <a:spcBef>
                <a:spcPts val="800"/>
              </a:spcBef>
              <a:defRPr sz="1100" b="1">
                <a:solidFill>
                  <a:srgbClr val="2563EB"/>
                </a:solidFill>
              </a:defRPr>
            </a:pPr>
            <a:r>
              <a:t>total_athletes</a:t>
            </a:r>
          </a:p>
          <a:p>
            <a:pPr>
              <a:defRPr sz="950">
                <a:solidFill>
                  <a:srgbClr val="475569"/>
                </a:solidFill>
              </a:defRPr>
            </a:pPr>
            <a:r>
              <a:t>Unique competitors on the official national roster (Range: 1 to 650+)</a:t>
            </a:r>
          </a:p>
          <a:p>
            <a:pPr>
              <a:spcBef>
                <a:spcPts val="800"/>
              </a:spcBef>
              <a:defRPr sz="1100" b="1">
                <a:solidFill>
                  <a:srgbClr val="2563EB"/>
                </a:solidFill>
              </a:defRPr>
            </a:pPr>
            <a:r>
              <a:t>num_events</a:t>
            </a:r>
          </a:p>
          <a:p>
            <a:pPr>
              <a:defRPr sz="950">
                <a:solidFill>
                  <a:srgbClr val="475569"/>
                </a:solidFill>
              </a:defRPr>
            </a:pPr>
            <a:r>
              <a:t>Distinct competition event categories entered (Range: 1 to 250+)</a:t>
            </a:r>
          </a:p>
          <a:p>
            <a:pPr>
              <a:spcBef>
                <a:spcPts val="800"/>
              </a:spcBef>
              <a:defRPr sz="1100" b="1">
                <a:solidFill>
                  <a:srgbClr val="2563EB"/>
                </a:solidFill>
              </a:defRPr>
            </a:pPr>
            <a:r>
              <a:t>total_entries</a:t>
            </a:r>
          </a:p>
          <a:p>
            <a:pPr>
              <a:defRPr sz="950">
                <a:solidFill>
                  <a:srgbClr val="475569"/>
                </a:solidFill>
              </a:defRPr>
            </a:pPr>
            <a:r>
              <a:t>Total registrations accounting for multi-event athletes (Range: 1 to 800+)</a:t>
            </a:r>
          </a:p>
          <a:p>
            <a:pPr>
              <a:spcBef>
                <a:spcPts val="800"/>
              </a:spcBef>
              <a:defRPr sz="1100" b="1">
                <a:solidFill>
                  <a:srgbClr val="2563EB"/>
                </a:solidFill>
              </a:defRPr>
            </a:pPr>
            <a:r>
              <a:t>num_sports</a:t>
            </a:r>
          </a:p>
          <a:p>
            <a:pPr>
              <a:defRPr sz="950">
                <a:solidFill>
                  <a:srgbClr val="475569"/>
                </a:solidFill>
              </a:defRPr>
            </a:pPr>
            <a:r>
              <a:t>Distinct sports disciplines contested (Athletics, Aquatics, etc.) (Range: 1 to 32)</a:t>
            </a:r>
          </a:p>
        </p:txBody>
      </p:sp>
      <p:sp>
        <p:nvSpPr>
          <p:cNvPr id="6" name="Rounded Rectangle 5"/>
          <p:cNvSpPr/>
          <p:nvPr/>
        </p:nvSpPr>
        <p:spPr>
          <a:xfrm>
            <a:off x="4663440" y="1554480"/>
            <a:ext cx="329184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3A8A"/>
                </a:solidFill>
              </a:defRPr>
            </a:pPr>
            <a:r>
              <a:t>Historical Momentum &amp; Context (2)</a:t>
            </a:r>
          </a:p>
          <a:p>
            <a:pPr>
              <a:spcBef>
                <a:spcPts val="800"/>
              </a:spcBef>
              <a:defRPr sz="1100" b="1">
                <a:solidFill>
                  <a:srgbClr val="2563EB"/>
                </a:solidFill>
              </a:defRPr>
            </a:pPr>
            <a:r>
              <a:t>prev_medals</a:t>
            </a:r>
          </a:p>
          <a:p>
            <a:pPr>
              <a:defRPr sz="950">
                <a:solidFill>
                  <a:srgbClr val="475569"/>
                </a:solidFill>
              </a:defRPr>
            </a:pPr>
            <a:r>
              <a:t>Total medals secured in previous Olympiad (Range: 0 to 120+)</a:t>
            </a:r>
          </a:p>
          <a:p>
            <a:pPr>
              <a:spcBef>
                <a:spcPts val="800"/>
              </a:spcBef>
              <a:defRPr sz="1100" b="1">
                <a:solidFill>
                  <a:srgbClr val="2563EB"/>
                </a:solidFill>
              </a:defRPr>
            </a:pPr>
            <a:r>
              <a:t>is_host</a:t>
            </a:r>
          </a:p>
          <a:p>
            <a:pPr>
              <a:defRPr sz="950">
                <a:solidFill>
                  <a:srgbClr val="475569"/>
                </a:solidFill>
              </a:defRPr>
            </a:pPr>
            <a:r>
              <a:t>Binary indicator (1 if host nation, 0 if visiting delegation)</a:t>
            </a:r>
          </a:p>
        </p:txBody>
      </p:sp>
      <p:sp>
        <p:nvSpPr>
          <p:cNvPr id="7" name="Rounded Rectangle 6"/>
          <p:cNvSpPr/>
          <p:nvPr/>
        </p:nvSpPr>
        <p:spPr>
          <a:xfrm>
            <a:off x="8138160" y="1554480"/>
            <a:ext cx="365760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E3A8A"/>
                </a:solidFill>
              </a:defRPr>
            </a:pPr>
            <a:r>
              <a:t>Biometrics &amp; Demographics (5)</a:t>
            </a:r>
          </a:p>
          <a:p>
            <a:pPr>
              <a:spcBef>
                <a:spcPts val="800"/>
              </a:spcBef>
              <a:defRPr sz="1100" b="1">
                <a:solidFill>
                  <a:srgbClr val="2563EB"/>
                </a:solidFill>
              </a:defRPr>
            </a:pPr>
            <a:r>
              <a:t>mean_age</a:t>
            </a:r>
          </a:p>
          <a:p>
            <a:pPr>
              <a:defRPr sz="950">
                <a:solidFill>
                  <a:srgbClr val="475569"/>
                </a:solidFill>
              </a:defRPr>
            </a:pPr>
            <a:r>
              <a:t>Delegation average competitor age in years (Range: 18.0 to 35.0)</a:t>
            </a:r>
          </a:p>
          <a:p>
            <a:pPr>
              <a:spcBef>
                <a:spcPts val="800"/>
              </a:spcBef>
              <a:defRPr sz="1100" b="1">
                <a:solidFill>
                  <a:srgbClr val="2563EB"/>
                </a:solidFill>
              </a:defRPr>
            </a:pPr>
            <a:r>
              <a:t>female_ratio</a:t>
            </a:r>
          </a:p>
          <a:p>
            <a:pPr>
              <a:defRPr sz="950">
                <a:solidFill>
                  <a:srgbClr val="475569"/>
                </a:solidFill>
              </a:defRPr>
            </a:pPr>
            <a:r>
              <a:t>Proportion of female athletes on national roster (Range: 0.0 to 1.0)</a:t>
            </a:r>
          </a:p>
          <a:p>
            <a:pPr>
              <a:spcBef>
                <a:spcPts val="800"/>
              </a:spcBef>
              <a:defRPr sz="1100" b="1">
                <a:solidFill>
                  <a:srgbClr val="2563EB"/>
                </a:solidFill>
              </a:defRPr>
            </a:pPr>
            <a:r>
              <a:t>mean_height</a:t>
            </a:r>
          </a:p>
          <a:p>
            <a:pPr>
              <a:defRPr sz="950">
                <a:solidFill>
                  <a:srgbClr val="475569"/>
                </a:solidFill>
              </a:defRPr>
            </a:pPr>
            <a:r>
              <a:t>Delegation average height in cm (Range: 155.0 to 195.0)</a:t>
            </a:r>
          </a:p>
          <a:p>
            <a:pPr>
              <a:spcBef>
                <a:spcPts val="800"/>
              </a:spcBef>
              <a:defRPr sz="1100" b="1">
                <a:solidFill>
                  <a:srgbClr val="2563EB"/>
                </a:solidFill>
              </a:defRPr>
            </a:pPr>
            <a:r>
              <a:t>mean_weight</a:t>
            </a:r>
          </a:p>
          <a:p>
            <a:pPr>
              <a:defRPr sz="950">
                <a:solidFill>
                  <a:srgbClr val="475569"/>
                </a:solidFill>
              </a:defRPr>
            </a:pPr>
            <a:r>
              <a:t>Delegation average weight in kg (Range: 45.0 to 105.0)</a:t>
            </a:r>
          </a:p>
          <a:p>
            <a:pPr>
              <a:spcBef>
                <a:spcPts val="800"/>
              </a:spcBef>
              <a:defRPr sz="1100" b="1">
                <a:solidFill>
                  <a:srgbClr val="2563EB"/>
                </a:solidFill>
              </a:defRPr>
            </a:pPr>
            <a:r>
              <a:t>mean_bmi</a:t>
            </a:r>
          </a:p>
          <a:p>
            <a:pPr>
              <a:defRPr sz="950">
                <a:solidFill>
                  <a:srgbClr val="475569"/>
                </a:solidFill>
              </a:defRPr>
            </a:pPr>
            <a:r>
              <a:t>Computed delegation Body Mass Index in kg/m² (Range: 18.0 to 28.0)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Exploratory Data Analysis: Correlation &amp; Distributions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2064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3A8A"/>
                </a:solidFill>
              </a:defRPr>
            </a:pPr>
            <a:r>
              <a:t>Pearson Correlation Analysis</a:t>
            </a:r>
          </a:p>
          <a:p>
            <a:pPr>
              <a:spcBef>
                <a:spcPts val="800"/>
              </a:spcBef>
              <a:defRPr b="1" sz="1100">
                <a:solidFill>
                  <a:srgbClr val="0F172A"/>
                </a:solidFill>
              </a:defRPr>
            </a:pPr>
            <a:r>
              <a:t>Total Medals Won (Volume): </a:t>
            </a:r>
            <a:r>
              <a:rPr b="0">
                <a:solidFill>
                  <a:srgbClr val="475569"/>
                </a:solidFill>
              </a:rPr>
              <a:t>Highest linear factor is prev_medals (r = +0.901), followed by total_entries (+0.834) and total_athletes (+0.834). Strong past programs maintain sustained medal output.</a:t>
            </a:r>
          </a:p>
          <a:p>
            <a:pPr>
              <a:spcBef>
                <a:spcPts val="800"/>
              </a:spcBef>
              <a:defRPr b="1" sz="1100">
                <a:solidFill>
                  <a:srgbClr val="0F172A"/>
                </a:solidFill>
              </a:defRPr>
            </a:pPr>
            <a:r>
              <a:t>Podium Threshold (Any Medal): </a:t>
            </a:r>
            <a:r>
              <a:rPr b="0">
                <a:solidFill>
                  <a:srgbClr val="475569"/>
                </a:solidFill>
              </a:rPr>
              <a:t>Highest linear factor is num_sports (r = +0.702), followed by num_events (+0.635). Entering diverse sports provides multiple independent shots at winning a medal.</a:t>
            </a:r>
          </a:p>
          <a:p>
            <a:pPr>
              <a:spcBef>
                <a:spcPts val="800"/>
              </a:spcBef>
              <a:defRPr b="1" sz="1100">
                <a:solidFill>
                  <a:srgbClr val="0F172A"/>
                </a:solidFill>
              </a:defRPr>
            </a:pPr>
            <a:r>
              <a:t>Host Nation Effect: </a:t>
            </a:r>
            <a:r>
              <a:rPr b="0">
                <a:solidFill>
                  <a:srgbClr val="475569"/>
                </a:solidFill>
              </a:rPr>
              <a:t>Host status correlates moderately with medal count (r = +0.304), yielding on average +4.12 additional medals via quota allowances and crowd familiarity.</a:t>
            </a:r>
          </a:p>
          <a:p>
            <a:pPr>
              <a:spcBef>
                <a:spcPts val="800"/>
              </a:spcBef>
              <a:defRPr b="1" sz="1100">
                <a:solidFill>
                  <a:srgbClr val="0F172A"/>
                </a:solidFill>
              </a:defRPr>
            </a:pPr>
            <a:r>
              <a:t>Biometrics Divergence: </a:t>
            </a:r>
            <a:r>
              <a:rPr b="0">
                <a:solidFill>
                  <a:srgbClr val="475569"/>
                </a:solidFill>
              </a:rPr>
              <a:t>Athlete biometrics (mean_age r=+0.012, mean_bmi r=-0.006) show virtually zero linear correlation because optimal body types vary dramatically across sports (e.g. Gymnastics vs Shot Put).</a:t>
            </a:r>
          </a:p>
        </p:txBody>
      </p:sp>
      <p:sp>
        <p:nvSpPr>
          <p:cNvPr id="6" name="Rounded Rectangle 5"/>
          <p:cNvSpPr/>
          <p:nvPr/>
        </p:nvSpPr>
        <p:spPr>
          <a:xfrm>
            <a:off x="6217920" y="1554480"/>
            <a:ext cx="521208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3A8A"/>
                </a:solidFill>
              </a:defRPr>
            </a:pPr>
            <a:r>
              <a:t>Empirical Distribution Characteristics</a:t>
            </a:r>
          </a:p>
          <a:p>
            <a:pPr>
              <a:spcBef>
                <a:spcPts val="800"/>
              </a:spcBef>
              <a:defRPr b="1" sz="1100">
                <a:solidFill>
                  <a:srgbClr val="0F172A"/>
                </a:solidFill>
              </a:defRPr>
            </a:pPr>
            <a:r>
              <a:t>Extreme Pareto Skewness: </a:t>
            </a:r>
            <a:r>
              <a:rPr b="0">
                <a:solidFill>
                  <a:srgbClr val="475569"/>
                </a:solidFill>
              </a:rPr>
              <a:t>Medal distribution follows a steep power law: 59.94% of all participating delegations win 0 medals, while top 5 nations claim &gt;40% of total medals.</a:t>
            </a:r>
          </a:p>
          <a:p>
            <a:pPr>
              <a:spcBef>
                <a:spcPts val="800"/>
              </a:spcBef>
              <a:defRPr b="1" sz="1100">
                <a:solidFill>
                  <a:srgbClr val="0F172A"/>
                </a:solidFill>
              </a:defRPr>
            </a:pPr>
            <a:r>
              <a:t>Medal Winners vs Non-Winners: </a:t>
            </a:r>
            <a:r>
              <a:rPr b="0">
                <a:solidFill>
                  <a:srgbClr val="475569"/>
                </a:solidFill>
              </a:rPr>
              <a:t>Median roster for medal-winning teams is 142 athletes across 16 sports; median roster for non-winners is 11 athletes across 4 sports (12.9x difference).</a:t>
            </a:r>
          </a:p>
          <a:p>
            <a:pPr>
              <a:spcBef>
                <a:spcPts val="800"/>
              </a:spcBef>
              <a:defRPr b="1" sz="1100">
                <a:solidFill>
                  <a:srgbClr val="0F172A"/>
                </a:solidFill>
              </a:defRPr>
            </a:pPr>
            <a:r>
              <a:t>Non-Linear Threshold Effects: </a:t>
            </a:r>
            <a:r>
              <a:rPr b="0">
                <a:solidFill>
                  <a:srgbClr val="475569"/>
                </a:solidFill>
              </a:rPr>
              <a:t>Medal probability shows an S-curve: having &lt;15 athletes yields &lt;5% podium probability; exceeding 60 athletes crosses 70% podium probability.</a:t>
            </a:r>
          </a:p>
          <a:p>
            <a:pPr>
              <a:spcBef>
                <a:spcPts val="800"/>
              </a:spcBef>
              <a:defRPr b="1" sz="1100">
                <a:solidFill>
                  <a:srgbClr val="0F172A"/>
                </a:solidFill>
              </a:defRPr>
            </a:pPr>
            <a:r>
              <a:t>Model Implications: </a:t>
            </a:r>
            <a:r>
              <a:rPr b="0">
                <a:solidFill>
                  <a:srgbClr val="475569"/>
                </a:solidFill>
              </a:rPr>
              <a:t>Severe skewness and non-linear thresholds mean linear regression alone is insufficient. Tree-based partitioning is required.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Model Selection: Why Random Forest is the Best Algorithm</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1E3A8A"/>
                </a:solidFill>
              </a:defRPr>
            </a:pPr>
            <a:r>
              <a:t>1. Direct Problem Alignment (Feature Importance)</a:t>
            </a:r>
          </a:p>
          <a:p>
            <a:pPr>
              <a:defRPr sz="950">
                <a:solidFill>
                  <a:srgbClr val="475569"/>
                </a:solidFill>
              </a:defRPr>
            </a:pPr>
            <a:r>
              <a:t>The problem statement explicitly requires understanding which factors are associated with team results. Random Forest natively outputs Mean Decrease in Impurity (Gini MDI) and Permutation Importance across all 200 trees, providing objective factor attribution.</a:t>
            </a:r>
          </a:p>
        </p:txBody>
      </p:sp>
      <p:sp>
        <p:nvSpPr>
          <p:cNvPr id="6" name="Rounded Rectangle 5"/>
          <p:cNvSpPr/>
          <p:nvPr/>
        </p:nvSpPr>
        <p:spPr>
          <a:xfrm>
            <a:off x="731520" y="242316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1E3A8A"/>
                </a:solidFill>
              </a:defRPr>
            </a:pPr>
            <a:r>
              <a:t>2. Captures Non-Linear Synergies &amp; Thresholds</a:t>
            </a:r>
          </a:p>
          <a:p>
            <a:pPr>
              <a:defRPr sz="950">
                <a:solidFill>
                  <a:srgbClr val="475569"/>
                </a:solidFill>
              </a:defRPr>
            </a:pPr>
            <a:r>
              <a:t>Olympic success is non-linear. Entering 10 more athletes in the same sport has diminishing returns, but expanding into an entirely new sport adds independent medal chances. Tree splits naturally capture these multi-variable interaction effects.</a:t>
            </a:r>
          </a:p>
        </p:txBody>
      </p:sp>
      <p:sp>
        <p:nvSpPr>
          <p:cNvPr id="7" name="Rounded Rectangle 6"/>
          <p:cNvSpPr/>
          <p:nvPr/>
        </p:nvSpPr>
        <p:spPr>
          <a:xfrm>
            <a:off x="731520" y="338328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1E3A8A"/>
                </a:solidFill>
              </a:defRPr>
            </a:pPr>
            <a:r>
              <a:t>3. Robustness to Extreme Sports Outliers</a:t>
            </a:r>
          </a:p>
          <a:p>
            <a:pPr>
              <a:defRPr sz="950">
                <a:solidFill>
                  <a:srgbClr val="475569"/>
                </a:solidFill>
              </a:defRPr>
            </a:pPr>
            <a:r>
              <a:t>Powerhouse delegations like USA (600+ athletes, 100+ medals) act as extreme leverage points in linear/distance models. Decision trees split on rank ordering rather than geometric distance, making them immune to outlier distortion.</a:t>
            </a:r>
          </a:p>
        </p:txBody>
      </p:sp>
      <p:sp>
        <p:nvSpPr>
          <p:cNvPr id="8" name="Rounded Rectangle 7"/>
          <p:cNvSpPr/>
          <p:nvPr/>
        </p:nvSpPr>
        <p:spPr>
          <a:xfrm>
            <a:off x="731520" y="434340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1E3A8A"/>
                </a:solidFill>
              </a:defRPr>
            </a:pPr>
            <a:r>
              <a:t>4. Variance Reduction via Bagging &amp; Subspace Sampling</a:t>
            </a:r>
          </a:p>
          <a:p>
            <a:pPr>
              <a:defRPr sz="950">
                <a:solidFill>
                  <a:srgbClr val="475569"/>
                </a:solidFill>
              </a:defRPr>
            </a:pPr>
            <a:r>
              <a:t>Single decision trees overfit historical tournaments. Random Forest trains 200 de-correlated trees via bootstrap row sampling and sqrt(p) random feature selection at each node, averaging out individual tree noise.</a:t>
            </a:r>
          </a:p>
        </p:txBody>
      </p:sp>
      <p:sp>
        <p:nvSpPr>
          <p:cNvPr id="9" name="Rounded Rectangle 8"/>
          <p:cNvSpPr/>
          <p:nvPr/>
        </p:nvSpPr>
        <p:spPr>
          <a:xfrm>
            <a:off x="731520" y="530352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1E3A8A"/>
                </a:solidFill>
              </a:defRPr>
            </a:pPr>
            <a:r>
              <a:t>5. Scale &amp; Monotonic Invariance</a:t>
            </a:r>
          </a:p>
          <a:p>
            <a:pPr>
              <a:defRPr sz="950">
                <a:solidFill>
                  <a:srgbClr val="475569"/>
                </a:solidFill>
              </a:defRPr>
            </a:pPr>
            <a:r>
              <a:t>Seamlessly handles counts (total_athletes), percentages (female_ratio), and continuous biometrics (mean_bmi) without forcing artificial mathematical distributions.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Model Evaluation &amp; Benchmark Performance</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2064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3A8A"/>
                </a:solidFill>
              </a:defRPr>
            </a:pPr>
            <a:r>
              <a:t>Classification Model: Random Forest</a:t>
            </a:r>
          </a:p>
          <a:p>
            <a:pPr>
              <a:spcBef>
                <a:spcPts val="600"/>
              </a:spcBef>
              <a:defRPr b="1" sz="1100">
                <a:solidFill>
                  <a:srgbClr val="0F172A"/>
                </a:solidFill>
              </a:defRPr>
            </a:pPr>
            <a:r>
              <a:t>Test Accuracy: </a:t>
            </a:r>
            <a:r>
              <a:rPr b="1">
                <a:solidFill>
                  <a:srgbClr val="2563EB"/>
                </a:solidFill>
              </a:rPr>
              <a:t>90.51% </a:t>
            </a:r>
            <a:r>
              <a:rPr b="0">
                <a:solidFill>
                  <a:srgbClr val="475569"/>
                </a:solidFill>
              </a:rPr>
              <a:t>(Correctly classifies 9 out of 10 delegations)</a:t>
            </a:r>
          </a:p>
          <a:p>
            <a:pPr>
              <a:spcBef>
                <a:spcPts val="600"/>
              </a:spcBef>
              <a:defRPr b="1" sz="1100">
                <a:solidFill>
                  <a:srgbClr val="0F172A"/>
                </a:solidFill>
              </a:defRPr>
            </a:pPr>
            <a:r>
              <a:t>Precision (Medal Winners): </a:t>
            </a:r>
            <a:r>
              <a:rPr b="1">
                <a:solidFill>
                  <a:srgbClr val="2563EB"/>
                </a:solidFill>
              </a:rPr>
              <a:t>90.12% </a:t>
            </a:r>
            <a:r>
              <a:rPr b="0">
                <a:solidFill>
                  <a:srgbClr val="475569"/>
                </a:solidFill>
              </a:rPr>
              <a:t>(Minimal false positives when predicting podium)</a:t>
            </a:r>
          </a:p>
          <a:p>
            <a:pPr>
              <a:spcBef>
                <a:spcPts val="600"/>
              </a:spcBef>
              <a:defRPr b="1" sz="1100">
                <a:solidFill>
                  <a:srgbClr val="0F172A"/>
                </a:solidFill>
              </a:defRPr>
            </a:pPr>
            <a:r>
              <a:t>Recall (Medal Winners): </a:t>
            </a:r>
            <a:r>
              <a:rPr b="1">
                <a:solidFill>
                  <a:srgbClr val="2563EB"/>
                </a:solidFill>
              </a:rPr>
              <a:t>85.64% </a:t>
            </a:r>
            <a:r>
              <a:rPr b="0">
                <a:solidFill>
                  <a:srgbClr val="475569"/>
                </a:solidFill>
              </a:rPr>
              <a:t>(Captures 85.6% of all genuine medal-winning nations)</a:t>
            </a:r>
          </a:p>
          <a:p>
            <a:pPr>
              <a:spcBef>
                <a:spcPts val="600"/>
              </a:spcBef>
              <a:defRPr b="1" sz="1100">
                <a:solidFill>
                  <a:srgbClr val="0F172A"/>
                </a:solidFill>
              </a:defRPr>
            </a:pPr>
            <a:r>
              <a:t>F1-Score: </a:t>
            </a:r>
            <a:r>
              <a:rPr b="1">
                <a:solidFill>
                  <a:srgbClr val="2563EB"/>
                </a:solidFill>
              </a:rPr>
              <a:t>0.8782 </a:t>
            </a:r>
            <a:r>
              <a:rPr b="0">
                <a:solidFill>
                  <a:srgbClr val="475569"/>
                </a:solidFill>
              </a:rPr>
              <a:t>(Harmonic balance of precision and recall)</a:t>
            </a:r>
          </a:p>
          <a:p>
            <a:pPr>
              <a:spcBef>
                <a:spcPts val="600"/>
              </a:spcBef>
              <a:defRPr b="1" sz="1100">
                <a:solidFill>
                  <a:srgbClr val="0F172A"/>
                </a:solidFill>
              </a:defRPr>
            </a:pPr>
            <a:r>
              <a:t>ROC-AUC Score: </a:t>
            </a:r>
            <a:r>
              <a:rPr b="1">
                <a:solidFill>
                  <a:srgbClr val="2563EB"/>
                </a:solidFill>
              </a:rPr>
              <a:t>0.9584 </a:t>
            </a:r>
            <a:r>
              <a:rPr b="0">
                <a:solidFill>
                  <a:srgbClr val="475569"/>
                </a:solidFill>
              </a:rPr>
              <a:t>(Outstanding discriminative threshold separation)</a:t>
            </a:r>
          </a:p>
          <a:p>
            <a:pPr>
              <a:spcBef>
                <a:spcPts val="600"/>
              </a:spcBef>
              <a:defRPr b="1" sz="1100">
                <a:solidFill>
                  <a:srgbClr val="0F172A"/>
                </a:solidFill>
              </a:defRPr>
            </a:pPr>
            <a:r>
              <a:t>Confusion Matrix (n=453): </a:t>
            </a:r>
            <a:r>
              <a:rPr b="1">
                <a:solidFill>
                  <a:srgbClr val="2563EB"/>
                </a:solidFill>
              </a:rPr>
              <a:t>TN: 255 | FP: 17 | FN: 26 | TP: 155 </a:t>
            </a:r>
            <a:r>
              <a:rPr b="0">
                <a:solidFill>
                  <a:srgbClr val="475569"/>
                </a:solidFill>
              </a:rPr>
              <a:t>(Held-out test set distribution)</a:t>
            </a:r>
          </a:p>
        </p:txBody>
      </p:sp>
      <p:sp>
        <p:nvSpPr>
          <p:cNvPr id="6" name="Rounded Rectangle 5"/>
          <p:cNvSpPr/>
          <p:nvPr/>
        </p:nvSpPr>
        <p:spPr>
          <a:xfrm>
            <a:off x="6217920" y="1554480"/>
            <a:ext cx="521208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3A8A"/>
                </a:solidFill>
              </a:defRPr>
            </a:pPr>
            <a:r>
              <a:t>Regression Model: Gradient Boosting</a:t>
            </a:r>
          </a:p>
          <a:p>
            <a:pPr>
              <a:spcBef>
                <a:spcPts val="600"/>
              </a:spcBef>
              <a:defRPr b="1" sz="1100">
                <a:solidFill>
                  <a:srgbClr val="0F172A"/>
                </a:solidFill>
              </a:defRPr>
            </a:pPr>
            <a:r>
              <a:t>Train R2 (Normal R2): </a:t>
            </a:r>
            <a:r>
              <a:rPr b="1">
                <a:solidFill>
                  <a:srgbClr val="2563EB"/>
                </a:solidFill>
              </a:rPr>
              <a:t>0.9863 </a:t>
            </a:r>
            <a:r>
              <a:rPr b="0">
                <a:solidFill>
                  <a:srgbClr val="475569"/>
                </a:solidFill>
              </a:rPr>
              <a:t>(Explains 98.6% of variance on training data)</a:t>
            </a:r>
          </a:p>
          <a:p>
            <a:pPr>
              <a:spcBef>
                <a:spcPts val="600"/>
              </a:spcBef>
              <a:defRPr b="1" sz="1100">
                <a:solidFill>
                  <a:srgbClr val="0F172A"/>
                </a:solidFill>
              </a:defRPr>
            </a:pPr>
            <a:r>
              <a:t>Test R2 (Normal R2): </a:t>
            </a:r>
            <a:r>
              <a:rPr b="1">
                <a:solidFill>
                  <a:srgbClr val="2563EB"/>
                </a:solidFill>
              </a:rPr>
              <a:t>0.8838 </a:t>
            </a:r>
            <a:r>
              <a:rPr b="0">
                <a:solidFill>
                  <a:srgbClr val="475569"/>
                </a:solidFill>
              </a:rPr>
              <a:t>(Explains 88.4% of variance on unseen test data)</a:t>
            </a:r>
          </a:p>
          <a:p>
            <a:pPr>
              <a:spcBef>
                <a:spcPts val="600"/>
              </a:spcBef>
              <a:defRPr b="1" sz="1100">
                <a:solidFill>
                  <a:srgbClr val="0F172A"/>
                </a:solidFill>
              </a:defRPr>
            </a:pPr>
            <a:r>
              <a:t>Mean Absolute Error (MAE): </a:t>
            </a:r>
            <a:r>
              <a:rPr b="1">
                <a:solidFill>
                  <a:srgbClr val="2563EB"/>
                </a:solidFill>
              </a:rPr>
              <a:t>1.80 Medals </a:t>
            </a:r>
            <a:r>
              <a:rPr b="0">
                <a:solidFill>
                  <a:srgbClr val="475569"/>
                </a:solidFill>
              </a:rPr>
              <a:t>(Average prediction error across all delegations)</a:t>
            </a:r>
          </a:p>
          <a:p>
            <a:pPr>
              <a:spcBef>
                <a:spcPts val="600"/>
              </a:spcBef>
              <a:defRPr b="1" sz="1100">
                <a:solidFill>
                  <a:srgbClr val="0F172A"/>
                </a:solidFill>
              </a:defRPr>
            </a:pPr>
            <a:r>
              <a:t>Root Mean Squared Error (RMSE): </a:t>
            </a:r>
            <a:r>
              <a:rPr b="1">
                <a:solidFill>
                  <a:srgbClr val="2563EB"/>
                </a:solidFill>
              </a:rPr>
              <a:t>5.01 Medals </a:t>
            </a:r>
            <a:r>
              <a:rPr b="0">
                <a:solidFill>
                  <a:srgbClr val="475569"/>
                </a:solidFill>
              </a:rPr>
              <a:t>(Penalizes large errors on dominant nations)</a:t>
            </a:r>
          </a:p>
          <a:p>
            <a:pPr>
              <a:spcBef>
                <a:spcPts val="600"/>
              </a:spcBef>
              <a:defRPr b="1" sz="1100">
                <a:solidFill>
                  <a:srgbClr val="0F172A"/>
                </a:solidFill>
              </a:defRPr>
            </a:pPr>
            <a:r>
              <a:t>Baseline Comparison (Dummy): </a:t>
            </a:r>
            <a:r>
              <a:rPr b="1">
                <a:solidFill>
                  <a:srgbClr val="2563EB"/>
                </a:solidFill>
              </a:rPr>
              <a:t>MAE: 7.74 | RMSE: 14.69 | R2: 0.00 </a:t>
            </a:r>
            <a:r>
              <a:rPr b="0">
                <a:solidFill>
                  <a:srgbClr val="475569"/>
                </a:solidFill>
              </a:rPr>
              <a:t>(Heuristic mean predictor baseline)</a:t>
            </a:r>
          </a:p>
          <a:p>
            <a:pPr>
              <a:spcBef>
                <a:spcPts val="600"/>
              </a:spcBef>
              <a:defRPr b="1" sz="1100">
                <a:solidFill>
                  <a:srgbClr val="0F172A"/>
                </a:solidFill>
              </a:defRPr>
            </a:pPr>
            <a:r>
              <a:t>Key Evaluation Takeaway: </a:t>
            </a:r>
            <a:r>
              <a:rPr b="1">
                <a:solidFill>
                  <a:srgbClr val="2563EB"/>
                </a:solidFill>
              </a:rPr>
              <a:t>Normal R2 demonstrates strong out-of-sample generalization without extreme overfitting. </a:t>
            </a:r>
            <a:r>
              <a:rPr b="0">
                <a:solidFill>
                  <a:srgbClr val="475569"/>
                </a:solidFill>
              </a:rPr>
              <a:t>(Test R2 of 0.8838 confirms reliable medal forecasting)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Feature Importance: Quantifying Factors Associated with Success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554480"/>
          <a:ext cx="5486400" cy="4754880"/>
        </p:xfrm>
        <a:graphic>
          <a:graphicData uri="http://schemas.openxmlformats.org/drawingml/2006/table">
            <a:tbl>
              <a:tblPr firstRow="1" bandRow="1">
                <a:tableStyleId>{5C22544A-7EE6-4342-B048-85BDC9FD1C3A}</a:tableStyleId>
              </a:tblPr>
              <a:tblGrid>
                <a:gridCol w="640080"/>
                <a:gridCol w="2926080"/>
                <a:gridCol w="1920240"/>
              </a:tblGrid>
              <a:tr h="396240">
                <a:tc>
                  <a:txBody>
                    <a:bodyPr/>
                    <a:lstStyle/>
                    <a:p>
                      <a:pPr>
                        <a:defRPr sz="950" b="1">
                          <a:solidFill>
                            <a:srgbClr val="FFFFFF"/>
                          </a:solidFill>
                        </a:defRPr>
                      </a:pPr>
                      <a:r>
                        <a:t>Rank</a:t>
                      </a:r>
                    </a:p>
                  </a:txBody>
                  <a:tcPr>
                    <a:solidFill>
                      <a:srgbClr val="1E3A8A"/>
                    </a:solidFill>
                  </a:tcPr>
                </a:tc>
                <a:tc>
                  <a:txBody>
                    <a:bodyPr/>
                    <a:lstStyle/>
                    <a:p>
                      <a:pPr>
                        <a:defRPr sz="950" b="1">
                          <a:solidFill>
                            <a:srgbClr val="FFFFFF"/>
                          </a:solidFill>
                        </a:defRPr>
                      </a:pPr>
                      <a:r>
                        <a:t>Measurable Factor</a:t>
                      </a:r>
                    </a:p>
                  </a:txBody>
                  <a:tcPr>
                    <a:solidFill>
                      <a:srgbClr val="1E3A8A"/>
                    </a:solidFill>
                  </a:tcPr>
                </a:tc>
                <a:tc>
                  <a:txBody>
                    <a:bodyPr/>
                    <a:lstStyle/>
                    <a:p>
                      <a:pPr>
                        <a:defRPr sz="950" b="1">
                          <a:solidFill>
                            <a:srgbClr val="FFFFFF"/>
                          </a:solidFill>
                        </a:defRPr>
                      </a:pPr>
                      <a:r>
                        <a:t>Importance (Gini MDI)</a:t>
                      </a:r>
                    </a:p>
                  </a:txBody>
                  <a:tcPr>
                    <a:solidFill>
                      <a:srgbClr val="1E3A8A"/>
                    </a:solidFill>
                  </a:tcPr>
                </a:tc>
              </a:tr>
              <a:tr h="396240">
                <a:tc>
                  <a:txBody>
                    <a:bodyPr/>
                    <a:lstStyle/>
                    <a:p>
                      <a:pPr>
                        <a:defRPr sz="850">
                          <a:solidFill>
                            <a:srgbClr val="0F172A"/>
                          </a:solidFill>
                        </a:defRPr>
                      </a:pPr>
                      <a:r>
                        <a:t>1</a:t>
                      </a:r>
                    </a:p>
                  </a:txBody>
                  <a:tcPr>
                    <a:solidFill>
                      <a:srgbClr val="FFFFFF"/>
                    </a:solidFill>
                  </a:tcPr>
                </a:tc>
                <a:tc>
                  <a:txBody>
                    <a:bodyPr/>
                    <a:lstStyle/>
                    <a:p>
                      <a:pPr>
                        <a:defRPr sz="850">
                          <a:solidFill>
                            <a:srgbClr val="0F172A"/>
                          </a:solidFill>
                        </a:defRPr>
                      </a:pPr>
                      <a:r>
                        <a:t>total_athletes (Roster Size)</a:t>
                      </a:r>
                    </a:p>
                  </a:txBody>
                  <a:tcPr>
                    <a:solidFill>
                      <a:srgbClr val="FFFFFF"/>
                    </a:solidFill>
                  </a:tcPr>
                </a:tc>
                <a:tc>
                  <a:txBody>
                    <a:bodyPr/>
                    <a:lstStyle/>
                    <a:p>
                      <a:pPr>
                        <a:defRPr sz="850">
                          <a:solidFill>
                            <a:srgbClr val="0F172A"/>
                          </a:solidFill>
                        </a:defRPr>
                      </a:pPr>
                      <a:r>
                        <a:t>25.53%</a:t>
                      </a:r>
                    </a:p>
                  </a:txBody>
                  <a:tcPr>
                    <a:solidFill>
                      <a:srgbClr val="FFFFFF"/>
                    </a:solidFill>
                  </a:tcPr>
                </a:tc>
              </a:tr>
              <a:tr h="396240">
                <a:tc>
                  <a:txBody>
                    <a:bodyPr/>
                    <a:lstStyle/>
                    <a:p>
                      <a:pPr>
                        <a:defRPr sz="850">
                          <a:solidFill>
                            <a:srgbClr val="0F172A"/>
                          </a:solidFill>
                        </a:defRPr>
                      </a:pPr>
                      <a:r>
                        <a:t>2</a:t>
                      </a:r>
                    </a:p>
                  </a:txBody>
                  <a:tcPr>
                    <a:solidFill>
                      <a:srgbClr val="F8FAFC"/>
                    </a:solidFill>
                  </a:tcPr>
                </a:tc>
                <a:tc>
                  <a:txBody>
                    <a:bodyPr/>
                    <a:lstStyle/>
                    <a:p>
                      <a:pPr>
                        <a:defRPr sz="850">
                          <a:solidFill>
                            <a:srgbClr val="0F172A"/>
                          </a:solidFill>
                        </a:defRPr>
                      </a:pPr>
                      <a:r>
                        <a:t>num_events (Opportunity Breadth)</a:t>
                      </a:r>
                    </a:p>
                  </a:txBody>
                  <a:tcPr>
                    <a:solidFill>
                      <a:srgbClr val="F8FAFC"/>
                    </a:solidFill>
                  </a:tcPr>
                </a:tc>
                <a:tc>
                  <a:txBody>
                    <a:bodyPr/>
                    <a:lstStyle/>
                    <a:p>
                      <a:pPr>
                        <a:defRPr sz="850">
                          <a:solidFill>
                            <a:srgbClr val="0F172A"/>
                          </a:solidFill>
                        </a:defRPr>
                      </a:pPr>
                      <a:r>
                        <a:t>25.00%</a:t>
                      </a:r>
                    </a:p>
                  </a:txBody>
                  <a:tcPr>
                    <a:solidFill>
                      <a:srgbClr val="F8FAFC"/>
                    </a:solidFill>
                  </a:tcPr>
                </a:tc>
              </a:tr>
              <a:tr h="396240">
                <a:tc>
                  <a:txBody>
                    <a:bodyPr/>
                    <a:lstStyle/>
                    <a:p>
                      <a:pPr>
                        <a:defRPr sz="850">
                          <a:solidFill>
                            <a:srgbClr val="0F172A"/>
                          </a:solidFill>
                        </a:defRPr>
                      </a:pPr>
                      <a:r>
                        <a:t>3</a:t>
                      </a:r>
                    </a:p>
                  </a:txBody>
                  <a:tcPr>
                    <a:solidFill>
                      <a:srgbClr val="FFFFFF"/>
                    </a:solidFill>
                  </a:tcPr>
                </a:tc>
                <a:tc>
                  <a:txBody>
                    <a:bodyPr/>
                    <a:lstStyle/>
                    <a:p>
                      <a:pPr>
                        <a:defRPr sz="850">
                          <a:solidFill>
                            <a:srgbClr val="0F172A"/>
                          </a:solidFill>
                        </a:defRPr>
                      </a:pPr>
                      <a:r>
                        <a:t>total_entries (Total Registrations)</a:t>
                      </a:r>
                    </a:p>
                  </a:txBody>
                  <a:tcPr>
                    <a:solidFill>
                      <a:srgbClr val="FFFFFF"/>
                    </a:solidFill>
                  </a:tcPr>
                </a:tc>
                <a:tc>
                  <a:txBody>
                    <a:bodyPr/>
                    <a:lstStyle/>
                    <a:p>
                      <a:pPr>
                        <a:defRPr sz="850">
                          <a:solidFill>
                            <a:srgbClr val="0F172A"/>
                          </a:solidFill>
                        </a:defRPr>
                      </a:pPr>
                      <a:r>
                        <a:t>16.47%</a:t>
                      </a:r>
                    </a:p>
                  </a:txBody>
                  <a:tcPr>
                    <a:solidFill>
                      <a:srgbClr val="FFFFFF"/>
                    </a:solidFill>
                  </a:tcPr>
                </a:tc>
              </a:tr>
              <a:tr h="396240">
                <a:tc>
                  <a:txBody>
                    <a:bodyPr/>
                    <a:lstStyle/>
                    <a:p>
                      <a:pPr>
                        <a:defRPr sz="850">
                          <a:solidFill>
                            <a:srgbClr val="0F172A"/>
                          </a:solidFill>
                        </a:defRPr>
                      </a:pPr>
                      <a:r>
                        <a:t>4</a:t>
                      </a:r>
                    </a:p>
                  </a:txBody>
                  <a:tcPr>
                    <a:solidFill>
                      <a:srgbClr val="F8FAFC"/>
                    </a:solidFill>
                  </a:tcPr>
                </a:tc>
                <a:tc>
                  <a:txBody>
                    <a:bodyPr/>
                    <a:lstStyle/>
                    <a:p>
                      <a:pPr>
                        <a:defRPr sz="850">
                          <a:solidFill>
                            <a:srgbClr val="0F172A"/>
                          </a:solidFill>
                        </a:defRPr>
                      </a:pPr>
                      <a:r>
                        <a:t>num_sports (Discipline Spread)</a:t>
                      </a:r>
                    </a:p>
                  </a:txBody>
                  <a:tcPr>
                    <a:solidFill>
                      <a:srgbClr val="F8FAFC"/>
                    </a:solidFill>
                  </a:tcPr>
                </a:tc>
                <a:tc>
                  <a:txBody>
                    <a:bodyPr/>
                    <a:lstStyle/>
                    <a:p>
                      <a:pPr>
                        <a:defRPr sz="850">
                          <a:solidFill>
                            <a:srgbClr val="0F172A"/>
                          </a:solidFill>
                        </a:defRPr>
                      </a:pPr>
                      <a:r>
                        <a:t>11.92%</a:t>
                      </a:r>
                    </a:p>
                  </a:txBody>
                  <a:tcPr>
                    <a:solidFill>
                      <a:srgbClr val="F8FAFC"/>
                    </a:solidFill>
                  </a:tcPr>
                </a:tc>
              </a:tr>
              <a:tr h="396240">
                <a:tc>
                  <a:txBody>
                    <a:bodyPr/>
                    <a:lstStyle/>
                    <a:p>
                      <a:pPr>
                        <a:defRPr sz="850">
                          <a:solidFill>
                            <a:srgbClr val="0F172A"/>
                          </a:solidFill>
                        </a:defRPr>
                      </a:pPr>
                      <a:r>
                        <a:t>5</a:t>
                      </a:r>
                    </a:p>
                  </a:txBody>
                  <a:tcPr>
                    <a:solidFill>
                      <a:srgbClr val="FFFFFF"/>
                    </a:solidFill>
                  </a:tcPr>
                </a:tc>
                <a:tc>
                  <a:txBody>
                    <a:bodyPr/>
                    <a:lstStyle/>
                    <a:p>
                      <a:pPr>
                        <a:defRPr sz="850">
                          <a:solidFill>
                            <a:srgbClr val="0F172A"/>
                          </a:solidFill>
                        </a:defRPr>
                      </a:pPr>
                      <a:r>
                        <a:t>prev_medals (Historical Momentum)</a:t>
                      </a:r>
                    </a:p>
                  </a:txBody>
                  <a:tcPr>
                    <a:solidFill>
                      <a:srgbClr val="FFFFFF"/>
                    </a:solidFill>
                  </a:tcPr>
                </a:tc>
                <a:tc>
                  <a:txBody>
                    <a:bodyPr/>
                    <a:lstStyle/>
                    <a:p>
                      <a:pPr>
                        <a:defRPr sz="850">
                          <a:solidFill>
                            <a:srgbClr val="0F172A"/>
                          </a:solidFill>
                        </a:defRPr>
                      </a:pPr>
                      <a:r>
                        <a:t>11.27%</a:t>
                      </a:r>
                    </a:p>
                  </a:txBody>
                  <a:tcPr>
                    <a:solidFill>
                      <a:srgbClr val="FFFFFF"/>
                    </a:solidFill>
                  </a:tcPr>
                </a:tc>
              </a:tr>
              <a:tr h="396240">
                <a:tc>
                  <a:txBody>
                    <a:bodyPr/>
                    <a:lstStyle/>
                    <a:p>
                      <a:pPr>
                        <a:defRPr sz="850">
                          <a:solidFill>
                            <a:srgbClr val="0F172A"/>
                          </a:solidFill>
                        </a:defRPr>
                      </a:pPr>
                      <a:r>
                        <a:t>6</a:t>
                      </a:r>
                    </a:p>
                  </a:txBody>
                  <a:tcPr>
                    <a:solidFill>
                      <a:srgbClr val="F8FAFC"/>
                    </a:solidFill>
                  </a:tcPr>
                </a:tc>
                <a:tc>
                  <a:txBody>
                    <a:bodyPr/>
                    <a:lstStyle/>
                    <a:p>
                      <a:pPr>
                        <a:defRPr sz="850">
                          <a:solidFill>
                            <a:srgbClr val="0F172A"/>
                          </a:solidFill>
                        </a:defRPr>
                      </a:pPr>
                      <a:r>
                        <a:t>mean_age (Roster Maturity)</a:t>
                      </a:r>
                    </a:p>
                  </a:txBody>
                  <a:tcPr>
                    <a:solidFill>
                      <a:srgbClr val="F8FAFC"/>
                    </a:solidFill>
                  </a:tcPr>
                </a:tc>
                <a:tc>
                  <a:txBody>
                    <a:bodyPr/>
                    <a:lstStyle/>
                    <a:p>
                      <a:pPr>
                        <a:defRPr sz="850">
                          <a:solidFill>
                            <a:srgbClr val="0F172A"/>
                          </a:solidFill>
                        </a:defRPr>
                      </a:pPr>
                      <a:r>
                        <a:t>2.83%</a:t>
                      </a:r>
                    </a:p>
                  </a:txBody>
                  <a:tcPr>
                    <a:solidFill>
                      <a:srgbClr val="F8FAFC"/>
                    </a:solidFill>
                  </a:tcPr>
                </a:tc>
              </a:tr>
              <a:tr h="396240">
                <a:tc>
                  <a:txBody>
                    <a:bodyPr/>
                    <a:lstStyle/>
                    <a:p>
                      <a:pPr>
                        <a:defRPr sz="850">
                          <a:solidFill>
                            <a:srgbClr val="0F172A"/>
                          </a:solidFill>
                        </a:defRPr>
                      </a:pPr>
                      <a:r>
                        <a:t>7</a:t>
                      </a:r>
                    </a:p>
                  </a:txBody>
                  <a:tcPr>
                    <a:solidFill>
                      <a:srgbClr val="FFFFFF"/>
                    </a:solidFill>
                  </a:tcPr>
                </a:tc>
                <a:tc>
                  <a:txBody>
                    <a:bodyPr/>
                    <a:lstStyle/>
                    <a:p>
                      <a:pPr>
                        <a:defRPr sz="850">
                          <a:solidFill>
                            <a:srgbClr val="0F172A"/>
                          </a:solidFill>
                        </a:defRPr>
                      </a:pPr>
                      <a:r>
                        <a:t>female_ratio (Gender Parity)</a:t>
                      </a:r>
                    </a:p>
                  </a:txBody>
                  <a:tcPr>
                    <a:solidFill>
                      <a:srgbClr val="FFFFFF"/>
                    </a:solidFill>
                  </a:tcPr>
                </a:tc>
                <a:tc>
                  <a:txBody>
                    <a:bodyPr/>
                    <a:lstStyle/>
                    <a:p>
                      <a:pPr>
                        <a:defRPr sz="850">
                          <a:solidFill>
                            <a:srgbClr val="0F172A"/>
                          </a:solidFill>
                        </a:defRPr>
                      </a:pPr>
                      <a:r>
                        <a:t>1.89%</a:t>
                      </a:r>
                    </a:p>
                  </a:txBody>
                  <a:tcPr>
                    <a:solidFill>
                      <a:srgbClr val="FFFFFF"/>
                    </a:solidFill>
                  </a:tcPr>
                </a:tc>
              </a:tr>
              <a:tr h="396240">
                <a:tc>
                  <a:txBody>
                    <a:bodyPr/>
                    <a:lstStyle/>
                    <a:p>
                      <a:pPr>
                        <a:defRPr sz="850">
                          <a:solidFill>
                            <a:srgbClr val="0F172A"/>
                          </a:solidFill>
                        </a:defRPr>
                      </a:pPr>
                      <a:r>
                        <a:t>8</a:t>
                      </a:r>
                    </a:p>
                  </a:txBody>
                  <a:tcPr>
                    <a:solidFill>
                      <a:srgbClr val="F8FAFC"/>
                    </a:solidFill>
                  </a:tcPr>
                </a:tc>
                <a:tc>
                  <a:txBody>
                    <a:bodyPr/>
                    <a:lstStyle/>
                    <a:p>
                      <a:pPr>
                        <a:defRPr sz="850">
                          <a:solidFill>
                            <a:srgbClr val="0F172A"/>
                          </a:solidFill>
                        </a:defRPr>
                      </a:pPr>
                      <a:r>
                        <a:t>mean_height (Average Height)</a:t>
                      </a:r>
                    </a:p>
                  </a:txBody>
                  <a:tcPr>
                    <a:solidFill>
                      <a:srgbClr val="F8FAFC"/>
                    </a:solidFill>
                  </a:tcPr>
                </a:tc>
                <a:tc>
                  <a:txBody>
                    <a:bodyPr/>
                    <a:lstStyle/>
                    <a:p>
                      <a:pPr>
                        <a:defRPr sz="850">
                          <a:solidFill>
                            <a:srgbClr val="0F172A"/>
                          </a:solidFill>
                        </a:defRPr>
                      </a:pPr>
                      <a:r>
                        <a:t>1.78%</a:t>
                      </a:r>
                    </a:p>
                  </a:txBody>
                  <a:tcPr>
                    <a:solidFill>
                      <a:srgbClr val="F8FAFC"/>
                    </a:solidFill>
                  </a:tcPr>
                </a:tc>
              </a:tr>
              <a:tr h="396240">
                <a:tc>
                  <a:txBody>
                    <a:bodyPr/>
                    <a:lstStyle/>
                    <a:p>
                      <a:pPr>
                        <a:defRPr sz="850">
                          <a:solidFill>
                            <a:srgbClr val="0F172A"/>
                          </a:solidFill>
                        </a:defRPr>
                      </a:pPr>
                      <a:r>
                        <a:t>9</a:t>
                      </a:r>
                    </a:p>
                  </a:txBody>
                  <a:tcPr>
                    <a:solidFill>
                      <a:srgbClr val="FFFFFF"/>
                    </a:solidFill>
                  </a:tcPr>
                </a:tc>
                <a:tc>
                  <a:txBody>
                    <a:bodyPr/>
                    <a:lstStyle/>
                    <a:p>
                      <a:pPr>
                        <a:defRPr sz="850">
                          <a:solidFill>
                            <a:srgbClr val="0F172A"/>
                          </a:solidFill>
                        </a:defRPr>
                      </a:pPr>
                      <a:r>
                        <a:t>mean_bmi (Average BMI)</a:t>
                      </a:r>
                    </a:p>
                  </a:txBody>
                  <a:tcPr>
                    <a:solidFill>
                      <a:srgbClr val="FFFFFF"/>
                    </a:solidFill>
                  </a:tcPr>
                </a:tc>
                <a:tc>
                  <a:txBody>
                    <a:bodyPr/>
                    <a:lstStyle/>
                    <a:p>
                      <a:pPr>
                        <a:defRPr sz="850">
                          <a:solidFill>
                            <a:srgbClr val="0F172A"/>
                          </a:solidFill>
                        </a:defRPr>
                      </a:pPr>
                      <a:r>
                        <a:t>1.74%</a:t>
                      </a:r>
                    </a:p>
                  </a:txBody>
                  <a:tcPr>
                    <a:solidFill>
                      <a:srgbClr val="FFFFFF"/>
                    </a:solidFill>
                  </a:tcPr>
                </a:tc>
              </a:tr>
              <a:tr h="396240">
                <a:tc>
                  <a:txBody>
                    <a:bodyPr/>
                    <a:lstStyle/>
                    <a:p>
                      <a:pPr>
                        <a:defRPr sz="850">
                          <a:solidFill>
                            <a:srgbClr val="0F172A"/>
                          </a:solidFill>
                        </a:defRPr>
                      </a:pPr>
                      <a:r>
                        <a:t>10</a:t>
                      </a:r>
                    </a:p>
                  </a:txBody>
                  <a:tcPr>
                    <a:solidFill>
                      <a:srgbClr val="F8FAFC"/>
                    </a:solidFill>
                  </a:tcPr>
                </a:tc>
                <a:tc>
                  <a:txBody>
                    <a:bodyPr/>
                    <a:lstStyle/>
                    <a:p>
                      <a:pPr>
                        <a:defRPr sz="850">
                          <a:solidFill>
                            <a:srgbClr val="0F172A"/>
                          </a:solidFill>
                        </a:defRPr>
                      </a:pPr>
                      <a:r>
                        <a:t>mean_weight (Average Weight)</a:t>
                      </a:r>
                    </a:p>
                  </a:txBody>
                  <a:tcPr>
                    <a:solidFill>
                      <a:srgbClr val="F8FAFC"/>
                    </a:solidFill>
                  </a:tcPr>
                </a:tc>
                <a:tc>
                  <a:txBody>
                    <a:bodyPr/>
                    <a:lstStyle/>
                    <a:p>
                      <a:pPr>
                        <a:defRPr sz="850">
                          <a:solidFill>
                            <a:srgbClr val="0F172A"/>
                          </a:solidFill>
                        </a:defRPr>
                      </a:pPr>
                      <a:r>
                        <a:t>1.57%</a:t>
                      </a:r>
                    </a:p>
                  </a:txBody>
                  <a:tcPr>
                    <a:solidFill>
                      <a:srgbClr val="F8FAFC"/>
                    </a:solidFill>
                  </a:tcPr>
                </a:tc>
              </a:tr>
              <a:tr h="396240">
                <a:tc>
                  <a:txBody>
                    <a:bodyPr/>
                    <a:lstStyle/>
                    <a:p>
                      <a:pPr>
                        <a:defRPr sz="850">
                          <a:solidFill>
                            <a:srgbClr val="0F172A"/>
                          </a:solidFill>
                        </a:defRPr>
                      </a:pPr>
                      <a:r>
                        <a:t>11</a:t>
                      </a:r>
                    </a:p>
                  </a:txBody>
                  <a:tcPr>
                    <a:solidFill>
                      <a:srgbClr val="FFFFFF"/>
                    </a:solidFill>
                  </a:tcPr>
                </a:tc>
                <a:tc>
                  <a:txBody>
                    <a:bodyPr/>
                    <a:lstStyle/>
                    <a:p>
                      <a:pPr>
                        <a:defRPr sz="850">
                          <a:solidFill>
                            <a:srgbClr val="0F172A"/>
                          </a:solidFill>
                        </a:defRPr>
                      </a:pPr>
                      <a:r>
                        <a:t>is_host (Host Nation Status)</a:t>
                      </a:r>
                    </a:p>
                  </a:txBody>
                  <a:tcPr>
                    <a:solidFill>
                      <a:srgbClr val="FFFFFF"/>
                    </a:solidFill>
                  </a:tcPr>
                </a:tc>
                <a:tc>
                  <a:txBody>
                    <a:bodyPr/>
                    <a:lstStyle/>
                    <a:p>
                      <a:pPr>
                        <a:defRPr sz="850">
                          <a:solidFill>
                            <a:srgbClr val="0F172A"/>
                          </a:solidFill>
                        </a:defRPr>
                      </a:pPr>
                      <a:r>
                        <a:t>&lt; 0.01% (Direct tree split)</a:t>
                      </a:r>
                    </a:p>
                  </a:txBody>
                  <a:tcPr>
                    <a:solidFill>
                      <a:srgbClr val="FFFFFF"/>
                    </a:solidFill>
                  </a:tcPr>
                </a:tc>
              </a:tr>
            </a:tbl>
          </a:graphicData>
        </a:graphic>
      </p:graphicFrame>
      <p:sp>
        <p:nvSpPr>
          <p:cNvPr id="6" name="Rounded Rectangle 5"/>
          <p:cNvSpPr/>
          <p:nvPr/>
        </p:nvSpPr>
        <p:spPr>
          <a:xfrm>
            <a:off x="6492240" y="1554480"/>
            <a:ext cx="493776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3A8A"/>
                </a:solidFill>
              </a:defRPr>
            </a:pPr>
            <a:r>
              <a:t>Key Analytical Findings &amp; Justification</a:t>
            </a:r>
          </a:p>
          <a:p>
            <a:pPr>
              <a:spcBef>
                <a:spcPts val="800"/>
              </a:spcBef>
              <a:defRPr b="1" sz="1100">
                <a:solidFill>
                  <a:srgbClr val="0F172A"/>
                </a:solidFill>
              </a:defRPr>
            </a:pPr>
            <a:r>
              <a:t>The 78.9% Law of Roster Scope: </a:t>
            </a:r>
            <a:r>
              <a:rPr b="0">
                <a:solidFill>
                  <a:srgbClr val="475569"/>
                </a:solidFill>
              </a:rPr>
              <a:t>Organizational scale (athletes, events, entries, sports) accounts for nearly four-fifths of all predictive power. Winning medals requires participating across multiple medal-awarding categories.</a:t>
            </a:r>
          </a:p>
          <a:p>
            <a:pPr>
              <a:spcBef>
                <a:spcPts val="800"/>
              </a:spcBef>
              <a:defRPr b="1" sz="1100">
                <a:solidFill>
                  <a:srgbClr val="0F172A"/>
                </a:solidFill>
              </a:defRPr>
            </a:pPr>
            <a:r>
              <a:t>The 11.3% Momentum Factor: </a:t>
            </a:r>
            <a:r>
              <a:rPr b="0">
                <a:solidFill>
                  <a:srgbClr val="475569"/>
                </a:solidFill>
              </a:rPr>
              <a:t>Past medals won captures institutional coaching infrastructure, government sports funding, and sustained sports science investments across quadrennials.</a:t>
            </a:r>
          </a:p>
          <a:p>
            <a:pPr>
              <a:spcBef>
                <a:spcPts val="800"/>
              </a:spcBef>
              <a:defRPr b="1" sz="1100">
                <a:solidFill>
                  <a:srgbClr val="0F172A"/>
                </a:solidFill>
              </a:defRPr>
            </a:pPr>
            <a:r>
              <a:t>The 9.8% Biometric Reality: </a:t>
            </a:r>
            <a:r>
              <a:rPr b="0">
                <a:solidFill>
                  <a:srgbClr val="475569"/>
                </a:solidFill>
              </a:rPr>
              <a:t>Physical dimensions (height, weight, BMI, age) play only a minor role at the delegation level. Why? Because elite physical requirements cancel out across diverse sports (e.g. jockeys vs rowers).</a:t>
            </a:r>
          </a:p>
          <a:p>
            <a:pPr>
              <a:spcBef>
                <a:spcPts val="800"/>
              </a:spcBef>
              <a:defRPr b="1" sz="1100">
                <a:solidFill>
                  <a:srgbClr val="0F172A"/>
                </a:solidFill>
              </a:defRPr>
            </a:pPr>
            <a:r>
              <a:t>Core Takeaway for viva: </a:t>
            </a:r>
            <a:r>
              <a:rPr b="0">
                <a:solidFill>
                  <a:srgbClr val="475569"/>
                </a:solidFill>
              </a:rPr>
              <a:t>A nation cannot compensate for an undersized roster through superior biometrics alone; broad qualification breadth is the foundational prerequisite for Olympic success.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Functional Prototype: Streamlit Application Architecture</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1. Benchmark Scenario Engine</a:t>
            </a:r>
          </a:p>
          <a:p>
            <a:pPr>
              <a:defRPr sz="950">
                <a:solidFill>
                  <a:srgbClr val="475569"/>
                </a:solidFill>
              </a:defRPr>
            </a:pPr>
            <a:r>
              <a:t>Includes 1-click preset profiles for rapid testing: Global Powerhouse (USA/China), Mid-Tier Contender (Netherlands/Brazil), and Emerging Delegation. Enables examiners to immediately test realistic profiles.</a:t>
            </a:r>
          </a:p>
        </p:txBody>
      </p:sp>
      <p:sp>
        <p:nvSpPr>
          <p:cNvPr id="6" name="Rounded Rectangle 5"/>
          <p:cNvSpPr/>
          <p:nvPr/>
        </p:nvSpPr>
        <p:spPr>
          <a:xfrm>
            <a:off x="731520" y="2267712"/>
            <a:ext cx="10698480"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2. Wide Dashboard Layout</a:t>
            </a:r>
          </a:p>
          <a:p>
            <a:pPr>
              <a:defRPr sz="950">
                <a:solidFill>
                  <a:srgbClr val="475569"/>
                </a:solidFill>
              </a:defRPr>
            </a:pPr>
            <a:r>
              <a:t>Configured with st.set_page_config(layout='wide') separating user parameter controls in the left sidebar from real-time analytics in the main canvas.</a:t>
            </a:r>
          </a:p>
        </p:txBody>
      </p:sp>
      <p:sp>
        <p:nvSpPr>
          <p:cNvPr id="7" name="Rounded Rectangle 6"/>
          <p:cNvSpPr/>
          <p:nvPr/>
        </p:nvSpPr>
        <p:spPr>
          <a:xfrm>
            <a:off x="731520" y="3072384"/>
            <a:ext cx="10698480"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3. Dual Model Inference Engine</a:t>
            </a:r>
          </a:p>
          <a:p>
            <a:pPr>
              <a:defRPr sz="950">
                <a:solidFill>
                  <a:srgbClr val="475569"/>
                </a:solidFill>
              </a:defRPr>
            </a:pPr>
            <a:r>
              <a:t>Simultaneously executes Random Forest classification for podium probability and Gradient Boosting regression for exact medal count forecasting.</a:t>
            </a:r>
          </a:p>
        </p:txBody>
      </p:sp>
      <p:sp>
        <p:nvSpPr>
          <p:cNvPr id="8" name="Rounded Rectangle 7"/>
          <p:cNvSpPr/>
          <p:nvPr/>
        </p:nvSpPr>
        <p:spPr>
          <a:xfrm>
            <a:off x="731520" y="3877056"/>
            <a:ext cx="10698480"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4. Visual Probability Breakdown</a:t>
            </a:r>
          </a:p>
          <a:p>
            <a:pPr>
              <a:defRPr sz="950">
                <a:solidFill>
                  <a:srgbClr val="475569"/>
                </a:solidFill>
              </a:defRPr>
            </a:pPr>
            <a:r>
              <a:t>Dynamic Altair probability bar visualizing confidence spread between non-podium and medal-winning outcomes.</a:t>
            </a:r>
          </a:p>
        </p:txBody>
      </p:sp>
      <p:sp>
        <p:nvSpPr>
          <p:cNvPr id="9" name="Rounded Rectangle 8"/>
          <p:cNvSpPr/>
          <p:nvPr/>
        </p:nvSpPr>
        <p:spPr>
          <a:xfrm>
            <a:off x="731520" y="4681728"/>
            <a:ext cx="10698480"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5. Diagnostic Benchmark Comparison</a:t>
            </a:r>
          </a:p>
          <a:p>
            <a:pPr>
              <a:defRPr sz="950">
                <a:solidFill>
                  <a:srgbClr val="475569"/>
                </a:solidFill>
              </a:defRPr>
            </a:pPr>
            <a:r>
              <a:t>Compares user-configured inputs directly against historical medians of medal-winning vs non-winning Olympic teams.</a:t>
            </a:r>
          </a:p>
        </p:txBody>
      </p:sp>
      <p:sp>
        <p:nvSpPr>
          <p:cNvPr id="10" name="Rounded Rectangle 9"/>
          <p:cNvSpPr/>
          <p:nvPr/>
        </p:nvSpPr>
        <p:spPr>
          <a:xfrm>
            <a:off x="731520" y="5486400"/>
            <a:ext cx="10698480"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6. Research &amp; Factor Tabs</a:t>
            </a:r>
          </a:p>
          <a:p>
            <a:pPr>
              <a:defRPr sz="950">
                <a:solidFill>
                  <a:srgbClr val="475569"/>
                </a:solidFill>
              </a:defRPr>
            </a:pPr>
            <a:r>
              <a:t>Embedded tabs presenting Random Forest Gini importance charts, Pearson correlation rankings, and academic problem definitions.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Strategic Recommendations for Sports Organizations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38328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E3A8A"/>
                </a:solidFill>
              </a:defRPr>
            </a:pPr>
            <a:r>
              <a:t>Strategic Priority 1: Broaden Qualification</a:t>
            </a:r>
          </a:p>
          <a:p>
            <a:pPr>
              <a:spcBef>
                <a:spcPts val="1200"/>
              </a:spcBef>
              <a:defRPr sz="1100" b="1">
                <a:solidFill>
                  <a:srgbClr val="0F172A"/>
                </a:solidFill>
              </a:defRPr>
            </a:pPr>
            <a:r>
              <a:t>The Roster Threshold</a:t>
            </a:r>
          </a:p>
          <a:p>
            <a:pPr>
              <a:defRPr sz="950">
                <a:solidFill>
                  <a:srgbClr val="475569"/>
                </a:solidFill>
              </a:defRPr>
            </a:pPr>
            <a:r>
              <a:t>Teams with &lt;15 athletes win medals &lt;5% of the time. Scaling roster to &gt;45 athletes raises podium odds past 65%.</a:t>
            </a:r>
          </a:p>
          <a:p>
            <a:pPr>
              <a:spcBef>
                <a:spcPts val="1200"/>
              </a:spcBef>
              <a:defRPr sz="1100" b="1">
                <a:solidFill>
                  <a:srgbClr val="0F172A"/>
                </a:solidFill>
              </a:defRPr>
            </a:pPr>
            <a:r>
              <a:t>Expand Discipline Breadth</a:t>
            </a:r>
          </a:p>
          <a:p>
            <a:pPr>
              <a:defRPr sz="950">
                <a:solidFill>
                  <a:srgbClr val="475569"/>
                </a:solidFill>
              </a:defRPr>
            </a:pPr>
            <a:r>
              <a:t>Instead of over-investing in a single sport, expanding into 2-3 additional disciplines significantly reduces qualification volatility.</a:t>
            </a:r>
          </a:p>
        </p:txBody>
      </p:sp>
      <p:sp>
        <p:nvSpPr>
          <p:cNvPr id="6" name="Rounded Rectangle 5"/>
          <p:cNvSpPr/>
          <p:nvPr/>
        </p:nvSpPr>
        <p:spPr>
          <a:xfrm>
            <a:off x="4389120" y="1554480"/>
            <a:ext cx="338328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E3A8A"/>
                </a:solidFill>
              </a:defRPr>
            </a:pPr>
            <a:r>
              <a:t>Strategic Priority 2: Sustain Funding Cycles</a:t>
            </a:r>
          </a:p>
          <a:p>
            <a:pPr>
              <a:spcBef>
                <a:spcPts val="1200"/>
              </a:spcBef>
              <a:defRPr sz="1100" b="1">
                <a:solidFill>
                  <a:srgbClr val="0F172A"/>
                </a:solidFill>
              </a:defRPr>
            </a:pPr>
            <a:r>
              <a:t>Quadrennial Momentum</a:t>
            </a:r>
          </a:p>
          <a:p>
            <a:pPr>
              <a:defRPr sz="950">
                <a:solidFill>
                  <a:srgbClr val="475569"/>
                </a:solidFill>
              </a:defRPr>
            </a:pPr>
            <a:r>
              <a:t>Historical medals won carries r = 0.901 correlation with current output. Funding cuts after a poor Olympiad cause catastrophic multi-cycle decay.</a:t>
            </a:r>
          </a:p>
          <a:p>
            <a:pPr>
              <a:spcBef>
                <a:spcPts val="1200"/>
              </a:spcBef>
              <a:defRPr sz="1100" b="1">
                <a:solidFill>
                  <a:srgbClr val="0F172A"/>
                </a:solidFill>
              </a:defRPr>
            </a:pPr>
            <a:r>
              <a:t>Protect Youth Pipelines</a:t>
            </a:r>
          </a:p>
          <a:p>
            <a:pPr>
              <a:defRPr sz="950">
                <a:solidFill>
                  <a:srgbClr val="475569"/>
                </a:solidFill>
              </a:defRPr>
            </a:pPr>
            <a:r>
              <a:t>Retaining elite coaching staff preserves institutional knowledge regardless of individual athlete retirement.</a:t>
            </a:r>
          </a:p>
        </p:txBody>
      </p:sp>
      <p:sp>
        <p:nvSpPr>
          <p:cNvPr id="7" name="Rounded Rectangle 6"/>
          <p:cNvSpPr/>
          <p:nvPr/>
        </p:nvSpPr>
        <p:spPr>
          <a:xfrm>
            <a:off x="8046720" y="1554480"/>
            <a:ext cx="3383280" cy="47548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E3A8A"/>
                </a:solidFill>
              </a:defRPr>
            </a:pPr>
            <a:r>
              <a:t>Strategic Priority 3: Leverage Host Opportunities</a:t>
            </a:r>
          </a:p>
          <a:p>
            <a:pPr>
              <a:spcBef>
                <a:spcPts val="1200"/>
              </a:spcBef>
              <a:defRPr sz="1100" b="1">
                <a:solidFill>
                  <a:srgbClr val="0F172A"/>
                </a:solidFill>
              </a:defRPr>
            </a:pPr>
            <a:r>
              <a:t>Maximize Quota Allowances</a:t>
            </a:r>
          </a:p>
          <a:p>
            <a:pPr>
              <a:defRPr sz="950">
                <a:solidFill>
                  <a:srgbClr val="475569"/>
                </a:solidFill>
              </a:defRPr>
            </a:pPr>
            <a:r>
              <a:t>Host nations receive automatic qualification quotas. Successfully converting these into permanent infrastructure yields lasting competitive advantages.</a:t>
            </a:r>
          </a:p>
          <a:p>
            <a:pPr>
              <a:spcBef>
                <a:spcPts val="1200"/>
              </a:spcBef>
              <a:defRPr sz="1100" b="1">
                <a:solidFill>
                  <a:srgbClr val="0F172A"/>
                </a:solidFill>
              </a:defRPr>
            </a:pPr>
            <a:r>
              <a:t>Historical Lift</a:t>
            </a:r>
          </a:p>
          <a:p>
            <a:pPr>
              <a:defRPr sz="950">
                <a:solidFill>
                  <a:srgbClr val="475569"/>
                </a:solidFill>
              </a:defRPr>
            </a:pPr>
            <a:r>
              <a:t>Hosts gain an empirical +4.12 medal lift through crowd familiarity, home facilities, and expanded athlete rosters.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2563EB"/>
                </a:solidFill>
              </a:defRPr>
            </a:pPr>
            <a:r>
              <a:t>SPORTS ANALYTICS &amp; MACHINE LEARNING</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Model Limitations &amp; Future Extensions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Limitation 1: Geopolitical Shocks &amp; Boycotts</a:t>
            </a:r>
          </a:p>
          <a:p>
            <a:pPr>
              <a:defRPr sz="950">
                <a:solidFill>
                  <a:srgbClr val="475569"/>
                </a:solidFill>
              </a:defRPr>
            </a:pPr>
            <a:r>
              <a:t>Historical boycotts (e.g., Moscow 1980, Los Angeles 1984) artificially inflated and deflated medal distributions for participating nations.</a:t>
            </a:r>
          </a:p>
        </p:txBody>
      </p:sp>
      <p:sp>
        <p:nvSpPr>
          <p:cNvPr id="6" name="Rounded Rectangle 5"/>
          <p:cNvSpPr/>
          <p:nvPr/>
        </p:nvSpPr>
        <p:spPr>
          <a:xfrm>
            <a:off x="731520" y="242316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Limitation 2: Delegation-Level Aggregation Aggregation Loss</a:t>
            </a:r>
          </a:p>
          <a:p>
            <a:pPr>
              <a:defRPr sz="950">
                <a:solidFill>
                  <a:srgbClr val="475569"/>
                </a:solidFill>
              </a:defRPr>
            </a:pPr>
            <a:r>
              <a:t>Averaging athlete biometrics (height, weight) across a national delegation aggregates dissimilar sports together, masking sport-specific biometric advantages (e.g. Basketball vs Gymnastics).</a:t>
            </a:r>
          </a:p>
        </p:txBody>
      </p:sp>
      <p:sp>
        <p:nvSpPr>
          <p:cNvPr id="7" name="Rounded Rectangle 6"/>
          <p:cNvSpPr/>
          <p:nvPr/>
        </p:nvSpPr>
        <p:spPr>
          <a:xfrm>
            <a:off x="731520" y="338328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Limitation 3: Financial &amp; Economic Exogenous Factors</a:t>
            </a:r>
          </a:p>
          <a:p>
            <a:pPr>
              <a:defRPr sz="950">
                <a:solidFill>
                  <a:srgbClr val="475569"/>
                </a:solidFill>
              </a:defRPr>
            </a:pPr>
            <a:r>
              <a:t>National GDP, public sports expenditure, and private sponsorship datasets were omitted to maintain focus on roster-level operational metrics.</a:t>
            </a:r>
          </a:p>
        </p:txBody>
      </p:sp>
      <p:sp>
        <p:nvSpPr>
          <p:cNvPr id="8" name="Rounded Rectangle 7"/>
          <p:cNvSpPr/>
          <p:nvPr/>
        </p:nvSpPr>
        <p:spPr>
          <a:xfrm>
            <a:off x="731520" y="434340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Future Extension 1: Sport-Specific Hierarchical Modeling</a:t>
            </a:r>
          </a:p>
          <a:p>
            <a:pPr>
              <a:defRPr sz="950">
                <a:solidFill>
                  <a:srgbClr val="475569"/>
                </a:solidFill>
              </a:defRPr>
            </a:pPr>
            <a:r>
              <a:t>Develop sport-discipline level sub-models (e.g. Swimming-specific model vs Track-and-Field model) to capture micro-level biometric advantages.</a:t>
            </a:r>
          </a:p>
        </p:txBody>
      </p:sp>
      <p:sp>
        <p:nvSpPr>
          <p:cNvPr id="9" name="Rounded Rectangle 8"/>
          <p:cNvSpPr/>
          <p:nvPr/>
        </p:nvSpPr>
        <p:spPr>
          <a:xfrm>
            <a:off x="731520" y="5303520"/>
            <a:ext cx="10698480" cy="868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3A8A"/>
                </a:solidFill>
              </a:defRPr>
            </a:pPr>
            <a:r>
              <a:t>Future Extension 2: Real-Time Event-Level Simulations</a:t>
            </a:r>
          </a:p>
          <a:p>
            <a:pPr>
              <a:defRPr sz="950">
                <a:solidFill>
                  <a:srgbClr val="475569"/>
                </a:solidFill>
              </a:defRPr>
            </a:pPr>
            <a:r>
              <a:t>Integrate tournament bracket simulations to predict head-to-head match outcomes rather than solely aggregate delegation medal counts.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280160"/>
            <a:ext cx="10058400" cy="4572000"/>
          </a:xfrm>
          <a:prstGeom prst="rect">
            <a:avLst/>
          </a:prstGeom>
          <a:noFill/>
        </p:spPr>
        <p:txBody>
          <a:bodyPr wrap="square">
            <a:spAutoFit/>
          </a:bodyPr>
          <a:lstStyle/>
          <a:p>
            <a:pPr>
              <a:defRPr sz="1200" b="1">
                <a:solidFill>
                  <a:srgbClr val="93C5FD"/>
                </a:solidFill>
              </a:defRPr>
            </a:pPr>
            <a:r>
              <a:t>PROJECT SUMMARY &amp; VIVA READINESS</a:t>
            </a:r>
          </a:p>
          <a:p>
            <a:pPr>
              <a:spcBef>
                <a:spcPts val="600"/>
              </a:spcBef>
              <a:defRPr sz="2800" b="1">
                <a:solidFill>
                  <a:srgbClr val="FFFFFF"/>
                </a:solidFill>
              </a:defRPr>
            </a:pPr>
            <a:r>
              <a:t>Key Takeaways for Examination Defense</a:t>
            </a:r>
          </a:p>
          <a:p>
            <a:pPr>
              <a:spcBef>
                <a:spcPts val="1400"/>
              </a:spcBef>
              <a:defRPr b="1" sz="1300">
                <a:solidFill>
                  <a:srgbClr val="FEF08A"/>
                </a:solidFill>
              </a:defRPr>
            </a:pPr>
            <a:r>
              <a:t>Defensible Model Choice: </a:t>
            </a:r>
            <a:r>
              <a:rPr b="0">
                <a:solidFill>
                  <a:srgbClr val="E2E8F0"/>
                </a:solidFill>
              </a:rPr>
              <a:t>Random Forest selected for non-linear threshold handling, outlier robustness on skewed sports distributions, and intrinsic Gini importance attribution.</a:t>
            </a:r>
          </a:p>
          <a:p>
            <a:pPr>
              <a:spcBef>
                <a:spcPts val="1400"/>
              </a:spcBef>
              <a:defRPr b="1" sz="1300">
                <a:solidFill>
                  <a:srgbClr val="FEF08A"/>
                </a:solidFill>
              </a:defRPr>
            </a:pPr>
            <a:r>
              <a:t>Clear Answer to Problem Statement: </a:t>
            </a:r>
            <a:r>
              <a:rPr b="0">
                <a:solidFill>
                  <a:srgbClr val="E2E8F0"/>
                </a:solidFill>
              </a:rPr>
              <a:t>Roster scale and discipline diversity account for 78.9% of predictive power; past momentum accounts for 11.3%; biometrics provide only 9.8% fine-tuning.</a:t>
            </a:r>
          </a:p>
          <a:p>
            <a:pPr>
              <a:spcBef>
                <a:spcPts val="1400"/>
              </a:spcBef>
              <a:defRPr b="1" sz="1300">
                <a:solidFill>
                  <a:srgbClr val="FEF08A"/>
                </a:solidFill>
              </a:defRPr>
            </a:pPr>
            <a:r>
              <a:t>Sound Evaluation: </a:t>
            </a:r>
            <a:r>
              <a:rPr b="0">
                <a:solidFill>
                  <a:srgbClr val="E2E8F0"/>
                </a:solidFill>
              </a:rPr>
              <a:t>Evaluated strictly using normal Train R2 (0.9863) and Test R2 (0.8838) without cross-validation R2 averaging, and 90.51% classification accuracy.</a:t>
            </a:r>
          </a:p>
          <a:p>
            <a:pPr>
              <a:spcBef>
                <a:spcPts val="1400"/>
              </a:spcBef>
              <a:defRPr b="1" sz="1300">
                <a:solidFill>
                  <a:srgbClr val="FEF08A"/>
                </a:solidFill>
              </a:defRPr>
            </a:pPr>
            <a:r>
              <a:t>Production Artifacts: </a:t>
            </a:r>
            <a:r>
              <a:rPr b="0">
                <a:solidFill>
                  <a:srgbClr val="E2E8F0"/>
                </a:solidFill>
              </a:rPr>
              <a:t>Complete pipeline delivered with fully executed Jupyter notebook, clean standalone GitHub repo, and live Streamlit dashboard on http://localhost:8501.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