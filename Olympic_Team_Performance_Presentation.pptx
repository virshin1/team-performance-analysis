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280160"/>
            <a:ext cx="10058400" cy="4389120"/>
          </a:xfrm>
          <a:prstGeom prst="rect">
            <a:avLst/>
          </a:prstGeom>
          <a:noFill/>
        </p:spPr>
        <p:txBody>
          <a:bodyPr wrap="square">
            <a:spAutoFit/>
          </a:bodyPr>
          <a:lstStyle/>
          <a:p>
            <a:pPr>
              <a:defRPr sz="1100" b="1">
                <a:solidFill>
                  <a:srgbClr val="93C5FD"/>
                </a:solidFill>
              </a:defRPr>
            </a:pPr>
            <a:r>
              <a:t>ACADEMIC MACHINE LEARNING PROJECT</a:t>
            </a:r>
          </a:p>
          <a:p>
            <a:pPr>
              <a:spcBef>
                <a:spcPts val="800"/>
              </a:spcBef>
              <a:defRPr sz="3600" b="1">
                <a:solidFill>
                  <a:srgbClr val="FFFFFF"/>
                </a:solidFill>
              </a:defRPr>
            </a:pPr>
            <a:r>
              <a:t>Team Performance Analysis:</a:t>
            </a:r>
          </a:p>
          <a:p>
            <a:pPr>
              <a:spcBef>
                <a:spcPts val="400"/>
              </a:spcBef>
              <a:defRPr sz="2400" b="0">
                <a:solidFill>
                  <a:srgbClr val="CBD5E1"/>
                </a:solidFill>
              </a:defRPr>
            </a:pPr>
            <a:r>
              <a:t>Measurable Determinants of Olympic Team Outcomes</a:t>
            </a:r>
          </a:p>
          <a:p>
            <a:pPr>
              <a:spcBef>
                <a:spcPts val="1600"/>
              </a:spcBef>
              <a:defRPr sz="1300">
                <a:solidFill>
                  <a:srgbClr val="94A3B8"/>
                </a:solidFill>
              </a:defRPr>
            </a:pPr>
            <a:r>
              <a:t>A Dual-Target Machine Learning Investigation using Random Forest &amp; Gradient Boosting</a:t>
            </a:r>
          </a:p>
          <a:p>
            <a:pPr>
              <a:spcBef>
                <a:spcPts val="1600"/>
              </a:spcBef>
              <a:defRPr sz="1200">
                <a:solidFill>
                  <a:srgbClr val="CBD5E1"/>
                </a:solidFill>
              </a:defRPr>
            </a:pPr>
            <a:r>
              <a:t>Candidate: R Virshin | Roll No: 150096724147</a:t>
            </a:r>
            <a:br/>
            <a:r>
              <a:t>ITM Skills University | School of Future Tech | B.Tech CSE Semester V</a:t>
            </a:r>
          </a:p>
          <a:p>
            <a:pPr>
              <a:spcBef>
                <a:spcPts val="1200"/>
              </a:spcBef>
              <a:defRPr sz="1150" b="1">
                <a:solidFill>
                  <a:srgbClr val="60A5FA"/>
                </a:solidFill>
              </a:defRPr>
            </a:pPr>
            <a:r>
              <a:t>Live Streamlit Cloud Application: https://virshin1-team-performance-analysis-app-kwvw1u.streamlit.app/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Problem Definition &amp; Research Mandate</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Problem Statement &amp; Strategic Dilemma</a:t>
            </a:r>
          </a:p>
          <a:p>
            <a:pPr>
              <a:spcBef>
                <a:spcPts val="800"/>
              </a:spcBef>
              <a:defRPr b="1" sz="1100">
                <a:solidFill>
                  <a:srgbClr val="0F172A"/>
                </a:solidFill>
              </a:defRPr>
            </a:pPr>
            <a:r>
              <a:t>The Assigned Mandate: </a:t>
            </a:r>
            <a:r>
              <a:rPr b="0">
                <a:solidFill>
                  <a:srgbClr val="334155"/>
                </a:solidFill>
              </a:rPr>
              <a:t>A team wants to understand which measurable factors are associated with stronger team results (With Proper Justification).</a:t>
            </a:r>
          </a:p>
          <a:p>
            <a:pPr>
              <a:spcBef>
                <a:spcPts val="800"/>
              </a:spcBef>
              <a:defRPr b="1" sz="1100">
                <a:solidFill>
                  <a:srgbClr val="0F172A"/>
                </a:solidFill>
              </a:defRPr>
            </a:pPr>
            <a:r>
              <a:t>Strategic Trade-Off: </a:t>
            </a:r>
            <a:r>
              <a:rPr b="0">
                <a:solidFill>
                  <a:srgbClr val="334155"/>
                </a:solidFill>
              </a:rPr>
              <a:t>National Olympic Committees possess finite funding. Should budgets focus on specialized athlete conditioning, broad qualification across diverse events, or historical infrastructure momentum?</a:t>
            </a:r>
          </a:p>
          <a:p>
            <a:pPr>
              <a:spcBef>
                <a:spcPts val="800"/>
              </a:spcBef>
              <a:defRPr b="1" sz="1100">
                <a:solidFill>
                  <a:srgbClr val="0F172A"/>
                </a:solidFill>
              </a:defRPr>
            </a:pPr>
            <a:r>
              <a:t>Dual Problem Formulation: </a:t>
            </a:r>
            <a:r>
              <a:rPr b="0">
                <a:solidFill>
                  <a:srgbClr val="334155"/>
                </a:solidFill>
              </a:rPr>
              <a:t>1. Classification: Predict podium success (has_podium in {0, 1}).
2. Regression: Predict total medal volume (total_medals in [0, 121]).</a:t>
            </a:r>
          </a:p>
          <a:p>
            <a:pPr>
              <a:spcBef>
                <a:spcPts val="800"/>
              </a:spcBef>
              <a:defRPr b="1" sz="1100">
                <a:solidFill>
                  <a:srgbClr val="0F172A"/>
                </a:solidFill>
              </a:defRPr>
            </a:pPr>
            <a:r>
              <a:t>Rigorous Justification: </a:t>
            </a:r>
            <a:r>
              <a:rPr b="0">
                <a:solidFill>
                  <a:srgbClr val="334155"/>
                </a:solidFill>
              </a:rPr>
              <a:t>Replace intuition with empirical Random Forest Gini importance rankings and econometric hypothesis testing (p &lt; 0.001).</a:t>
            </a:r>
          </a:p>
        </p:txBody>
      </p:sp>
      <p:sp>
        <p:nvSpPr>
          <p:cNvPr id="7" name="Rounded Rectangle 6"/>
          <p:cNvSpPr/>
          <p:nvPr/>
        </p:nvSpPr>
        <p:spPr>
          <a:xfrm>
            <a:off x="6217920" y="1554480"/>
            <a:ext cx="521208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Project Objectives &amp; Deliverables</a:t>
            </a:r>
          </a:p>
          <a:p>
            <a:pPr>
              <a:spcBef>
                <a:spcPts val="800"/>
              </a:spcBef>
              <a:defRPr b="1" sz="1100">
                <a:solidFill>
                  <a:srgbClr val="0F172A"/>
                </a:solidFill>
              </a:defRPr>
            </a:pPr>
            <a:r>
              <a:t>Comprehensive Dataset: </a:t>
            </a:r>
            <a:r>
              <a:rPr b="0">
                <a:solidFill>
                  <a:srgbClr val="334155"/>
                </a:solidFill>
              </a:rPr>
              <a:t>2,264 team-year records across 223 nations spanning 15 Summer Olympic Games (1960–2016).</a:t>
            </a:r>
          </a:p>
          <a:p>
            <a:pPr>
              <a:spcBef>
                <a:spcPts val="800"/>
              </a:spcBef>
              <a:defRPr b="1" sz="1100">
                <a:solidFill>
                  <a:srgbClr val="0F172A"/>
                </a:solidFill>
              </a:defRPr>
            </a:pPr>
            <a:r>
              <a:t>Zero Data Leakage: </a:t>
            </a:r>
            <a:r>
              <a:rPr b="0">
                <a:solidFill>
                  <a:srgbClr val="334155"/>
                </a:solidFill>
              </a:rPr>
              <a:t>Strict 80/20 stratified split. All StandardScaler and lag calculations fit strictly on training set.</a:t>
            </a:r>
          </a:p>
          <a:p>
            <a:pPr>
              <a:spcBef>
                <a:spcPts val="800"/>
              </a:spcBef>
              <a:defRPr b="1" sz="1100">
                <a:solidFill>
                  <a:srgbClr val="0F172A"/>
                </a:solidFill>
              </a:defRPr>
            </a:pPr>
            <a:r>
              <a:t>Singular Best Model Selection: </a:t>
            </a:r>
            <a:r>
              <a:rPr b="0">
                <a:solidFill>
                  <a:srgbClr val="334155"/>
                </a:solidFill>
              </a:rPr>
              <a:t>Random Forest chosen for non-linear interaction detection, outlier resilience, and intrinsic Gini importance.</a:t>
            </a:r>
          </a:p>
          <a:p>
            <a:pPr>
              <a:spcBef>
                <a:spcPts val="800"/>
              </a:spcBef>
              <a:defRPr b="1" sz="1100">
                <a:solidFill>
                  <a:srgbClr val="0F172A"/>
                </a:solidFill>
              </a:defRPr>
            </a:pPr>
            <a:r>
              <a:t>Normal R2 Benchmark: </a:t>
            </a:r>
            <a:r>
              <a:rPr b="0">
                <a:solidFill>
                  <a:srgbClr val="334155"/>
                </a:solidFill>
              </a:rPr>
              <a:t>Evaluated strictly using standard Train R2 (0.9863) and Test R2 (0.8838) without cross-validation R2 averaging.</a:t>
            </a:r>
          </a:p>
          <a:p>
            <a:pPr>
              <a:spcBef>
                <a:spcPts val="800"/>
              </a:spcBef>
              <a:defRPr b="1" sz="1100">
                <a:solidFill>
                  <a:srgbClr val="0F172A"/>
                </a:solidFill>
              </a:defRPr>
            </a:pPr>
            <a:r>
              <a:t>Live Cloud Application: </a:t>
            </a:r>
            <a:r>
              <a:rPr b="0">
                <a:solidFill>
                  <a:srgbClr val="334155"/>
                </a:solidFill>
              </a:rPr>
              <a:t>Production-grade wide dashboard deployed live on Streamlit Community Cloud with interactive scenario simulation.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Dataset Architecture &amp; Data Engineering Pipeline</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2560320" cy="11887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TOTAL OBSERVATIONS</a:t>
            </a:r>
          </a:p>
          <a:p>
            <a:pPr>
              <a:defRPr sz="2000" b="1">
                <a:solidFill>
                  <a:srgbClr val="1D4ED8"/>
                </a:solidFill>
              </a:defRPr>
            </a:pPr>
            <a:r>
              <a:t>2,264</a:t>
            </a:r>
          </a:p>
          <a:p>
            <a:pPr>
              <a:defRPr sz="850">
                <a:solidFill>
                  <a:srgbClr val="334155"/>
                </a:solidFill>
              </a:defRPr>
            </a:pPr>
            <a:r>
              <a:t>Team-games participations</a:t>
            </a:r>
          </a:p>
        </p:txBody>
      </p:sp>
      <p:sp>
        <p:nvSpPr>
          <p:cNvPr id="7" name="Rounded Rectangle 6"/>
          <p:cNvSpPr/>
          <p:nvPr/>
        </p:nvSpPr>
        <p:spPr>
          <a:xfrm>
            <a:off x="3429000" y="1554480"/>
            <a:ext cx="2560320" cy="11887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TEMPORAL WINDOW</a:t>
            </a:r>
          </a:p>
          <a:p>
            <a:pPr>
              <a:defRPr sz="2000" b="1">
                <a:solidFill>
                  <a:srgbClr val="1D4ED8"/>
                </a:solidFill>
              </a:defRPr>
            </a:pPr>
            <a:r>
              <a:t>1960 - 2016</a:t>
            </a:r>
          </a:p>
          <a:p>
            <a:pPr>
              <a:defRPr sz="850">
                <a:solidFill>
                  <a:srgbClr val="334155"/>
                </a:solidFill>
              </a:defRPr>
            </a:pPr>
            <a:r>
              <a:t>15 Summer Olympiads</a:t>
            </a:r>
          </a:p>
        </p:txBody>
      </p:sp>
      <p:sp>
        <p:nvSpPr>
          <p:cNvPr id="8" name="Rounded Rectangle 7"/>
          <p:cNvSpPr/>
          <p:nvPr/>
        </p:nvSpPr>
        <p:spPr>
          <a:xfrm>
            <a:off x="6126480" y="1554480"/>
            <a:ext cx="2560320" cy="11887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NATIONAL DELEGATIONS</a:t>
            </a:r>
          </a:p>
          <a:p>
            <a:pPr>
              <a:defRPr sz="2000" b="1">
                <a:solidFill>
                  <a:srgbClr val="1D4ED8"/>
                </a:solidFill>
              </a:defRPr>
            </a:pPr>
            <a:r>
              <a:t>223</a:t>
            </a:r>
          </a:p>
          <a:p>
            <a:pPr>
              <a:defRPr sz="850">
                <a:solidFill>
                  <a:srgbClr val="334155"/>
                </a:solidFill>
              </a:defRPr>
            </a:pPr>
            <a:r>
              <a:t>Sovereign Olympic committees</a:t>
            </a:r>
          </a:p>
        </p:txBody>
      </p:sp>
      <p:sp>
        <p:nvSpPr>
          <p:cNvPr id="9" name="Rounded Rectangle 8"/>
          <p:cNvSpPr/>
          <p:nvPr/>
        </p:nvSpPr>
        <p:spPr>
          <a:xfrm>
            <a:off x="8823960" y="1554480"/>
            <a:ext cx="2560320" cy="11887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MEDAL BASE RATE</a:t>
            </a:r>
          </a:p>
          <a:p>
            <a:pPr>
              <a:defRPr sz="2000" b="1">
                <a:solidFill>
                  <a:srgbClr val="1D4ED8"/>
                </a:solidFill>
              </a:defRPr>
            </a:pPr>
            <a:r>
              <a:t>40.06%</a:t>
            </a:r>
          </a:p>
          <a:p>
            <a:pPr>
              <a:defRPr sz="850">
                <a:solidFill>
                  <a:srgbClr val="334155"/>
                </a:solidFill>
              </a:defRPr>
            </a:pPr>
            <a:r>
              <a:t>907 Podium / 1,357 Zero</a:t>
            </a:r>
          </a:p>
        </p:txBody>
      </p:sp>
      <p:sp>
        <p:nvSpPr>
          <p:cNvPr id="10" name="Rounded Rectangle 9"/>
          <p:cNvSpPr/>
          <p:nvPr/>
        </p:nvSpPr>
        <p:spPr>
          <a:xfrm>
            <a:off x="731520" y="2926080"/>
            <a:ext cx="10698480" cy="33832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Data Engineering &amp; Deduplication Methodology</a:t>
            </a:r>
          </a:p>
          <a:p>
            <a:pPr>
              <a:spcBef>
                <a:spcPts val="700"/>
              </a:spcBef>
              <a:defRPr b="1" sz="1050">
                <a:solidFill>
                  <a:srgbClr val="0F172A"/>
                </a:solidFill>
              </a:defRPr>
            </a:pPr>
            <a:r>
              <a:t>Source Provenance: </a:t>
            </a:r>
            <a:r>
              <a:rPr b="0">
                <a:solidFill>
                  <a:srgbClr val="334155"/>
                </a:solidFill>
              </a:rPr>
              <a:t>Sourced from historical Olympic archives covering all modern Summer Olympiads, containing over 200,000 individual competitor-event entries.</a:t>
            </a:r>
          </a:p>
          <a:p>
            <a:pPr>
              <a:spcBef>
                <a:spcPts val="700"/>
              </a:spcBef>
              <a:defRPr b="1" sz="1050">
                <a:solidFill>
                  <a:srgbClr val="0F172A"/>
                </a:solidFill>
              </a:defRPr>
            </a:pPr>
            <a:r>
              <a:t>Event-Level Deduplication: </a:t>
            </a:r>
            <a:r>
              <a:rPr b="0">
                <a:solidFill>
                  <a:srgbClr val="334155"/>
                </a:solidFill>
              </a:rPr>
              <a:t>In team sports (Football, Basketball, Rowing), every squad member receives a physical medal, but the country wins exactly ONE official medal. Deduplicated strictly to unique (Games, Year, Event, Medal) tuples before delegation aggregation.</a:t>
            </a:r>
          </a:p>
          <a:p>
            <a:pPr>
              <a:spcBef>
                <a:spcPts val="700"/>
              </a:spcBef>
              <a:defRPr b="1" sz="1050">
                <a:solidFill>
                  <a:srgbClr val="0F172A"/>
                </a:solidFill>
              </a:defRPr>
            </a:pPr>
            <a:r>
              <a:t>Unit of Analysis: </a:t>
            </a:r>
            <a:r>
              <a:rPr b="0">
                <a:solidFill>
                  <a:srgbClr val="334155"/>
                </a:solidFill>
              </a:rPr>
              <a:t>Consolidated to national delegation level per Olympic Games (NOC, Year). Features capture roster scale, discipline diversity, demographic distributions, and temporal momentum.</a:t>
            </a:r>
          </a:p>
          <a:p>
            <a:pPr>
              <a:spcBef>
                <a:spcPts val="700"/>
              </a:spcBef>
              <a:defRPr b="1" sz="1050">
                <a:solidFill>
                  <a:srgbClr val="0F172A"/>
                </a:solidFill>
              </a:defRPr>
            </a:pPr>
            <a:r>
              <a:t>Biometric Imputation: </a:t>
            </a:r>
            <a:r>
              <a:rPr b="0">
                <a:solidFill>
                  <a:srgbClr val="334155"/>
                </a:solidFill>
              </a:rPr>
              <a:t>Missing height/weight records for early Olympiads imputed using sport-gender median baselines rather than global means, preserving authentic sport-specific anthropometry.</a:t>
            </a:r>
          </a:p>
          <a:p>
            <a:pPr>
              <a:spcBef>
                <a:spcPts val="700"/>
              </a:spcBef>
              <a:defRPr b="1" sz="1050">
                <a:solidFill>
                  <a:srgbClr val="0F172A"/>
                </a:solidFill>
              </a:defRPr>
            </a:pPr>
            <a:r>
              <a:t>Lagged Momentum Feature: </a:t>
            </a:r>
            <a:r>
              <a:rPr b="0">
                <a:solidFill>
                  <a:srgbClr val="334155"/>
                </a:solidFill>
              </a:rPr>
              <a:t>Engineered prev_medals: Total medals achieved in the prior Olympic cycle for that specific nation, capturing institutional funding and coaching pipeline continuity.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Input Variables: 11 Measurable Delegation Factors</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749039"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Scale &amp; Workload (4)</a:t>
            </a:r>
          </a:p>
          <a:p>
            <a:pPr>
              <a:spcBef>
                <a:spcPts val="800"/>
              </a:spcBef>
              <a:defRPr sz="1100" b="1">
                <a:solidFill>
                  <a:srgbClr val="1D4ED8"/>
                </a:solidFill>
              </a:defRPr>
            </a:pPr>
            <a:r>
              <a:t>total_athletes</a:t>
            </a:r>
          </a:p>
          <a:p>
            <a:pPr>
              <a:defRPr sz="950">
                <a:solidFill>
                  <a:srgbClr val="334155"/>
                </a:solidFill>
              </a:defRPr>
            </a:pPr>
            <a:r>
              <a:t>Unique athletes on national roster (1 to 650+)</a:t>
            </a:r>
          </a:p>
          <a:p>
            <a:pPr>
              <a:spcBef>
                <a:spcPts val="800"/>
              </a:spcBef>
              <a:defRPr sz="1100" b="1">
                <a:solidFill>
                  <a:srgbClr val="1D4ED8"/>
                </a:solidFill>
              </a:defRPr>
            </a:pPr>
            <a:r>
              <a:t>num_events</a:t>
            </a:r>
          </a:p>
          <a:p>
            <a:pPr>
              <a:defRPr sz="950">
                <a:solidFill>
                  <a:srgbClr val="334155"/>
                </a:solidFill>
              </a:defRPr>
            </a:pPr>
            <a:r>
              <a:t>Distinct event categories entered (1 to 250+)</a:t>
            </a:r>
          </a:p>
          <a:p>
            <a:pPr>
              <a:spcBef>
                <a:spcPts val="800"/>
              </a:spcBef>
              <a:defRPr sz="1100" b="1">
                <a:solidFill>
                  <a:srgbClr val="1D4ED8"/>
                </a:solidFill>
              </a:defRPr>
            </a:pPr>
            <a:r>
              <a:t>total_entries</a:t>
            </a:r>
          </a:p>
          <a:p>
            <a:pPr>
              <a:defRPr sz="950">
                <a:solidFill>
                  <a:srgbClr val="334155"/>
                </a:solidFill>
              </a:defRPr>
            </a:pPr>
            <a:r>
              <a:t>Total registrations accounting for dual entrants (1 to 800+)</a:t>
            </a:r>
          </a:p>
          <a:p>
            <a:pPr>
              <a:spcBef>
                <a:spcPts val="800"/>
              </a:spcBef>
              <a:defRPr sz="1100" b="1">
                <a:solidFill>
                  <a:srgbClr val="1D4ED8"/>
                </a:solidFill>
              </a:defRPr>
            </a:pPr>
            <a:r>
              <a:t>num_sports</a:t>
            </a:r>
          </a:p>
          <a:p>
            <a:pPr>
              <a:defRPr sz="950">
                <a:solidFill>
                  <a:srgbClr val="334155"/>
                </a:solidFill>
              </a:defRPr>
            </a:pPr>
            <a:r>
              <a:t>Distinct sports disciplines contested (1 to 32)</a:t>
            </a:r>
          </a:p>
        </p:txBody>
      </p:sp>
      <p:sp>
        <p:nvSpPr>
          <p:cNvPr id="7" name="Rounded Rectangle 6"/>
          <p:cNvSpPr/>
          <p:nvPr/>
        </p:nvSpPr>
        <p:spPr>
          <a:xfrm>
            <a:off x="4663440" y="1554480"/>
            <a:ext cx="329184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Historical Momentum &amp; Context (2)</a:t>
            </a:r>
          </a:p>
          <a:p>
            <a:pPr>
              <a:spcBef>
                <a:spcPts val="800"/>
              </a:spcBef>
              <a:defRPr sz="1100" b="1">
                <a:solidFill>
                  <a:srgbClr val="1D4ED8"/>
                </a:solidFill>
              </a:defRPr>
            </a:pPr>
            <a:r>
              <a:t>prev_medals</a:t>
            </a:r>
          </a:p>
          <a:p>
            <a:pPr>
              <a:defRPr sz="950">
                <a:solidFill>
                  <a:srgbClr val="334155"/>
                </a:solidFill>
              </a:defRPr>
            </a:pPr>
            <a:r>
              <a:t>Medals won in preceding Olympic Games (0 to 120+)</a:t>
            </a:r>
          </a:p>
          <a:p>
            <a:pPr>
              <a:spcBef>
                <a:spcPts val="800"/>
              </a:spcBef>
              <a:defRPr sz="1100" b="1">
                <a:solidFill>
                  <a:srgbClr val="1D4ED8"/>
                </a:solidFill>
              </a:defRPr>
            </a:pPr>
            <a:r>
              <a:t>is_host</a:t>
            </a:r>
          </a:p>
          <a:p>
            <a:pPr>
              <a:defRPr sz="950">
                <a:solidFill>
                  <a:srgbClr val="334155"/>
                </a:solidFill>
              </a:defRPr>
            </a:pPr>
            <a:r>
              <a:t>Binary indicator (1 if host nation, 0 if visiting delegation)</a:t>
            </a:r>
          </a:p>
        </p:txBody>
      </p:sp>
      <p:sp>
        <p:nvSpPr>
          <p:cNvPr id="8" name="Rounded Rectangle 7"/>
          <p:cNvSpPr/>
          <p:nvPr/>
        </p:nvSpPr>
        <p:spPr>
          <a:xfrm>
            <a:off x="8138160" y="1554480"/>
            <a:ext cx="365760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Biometrics &amp; Demographics (5)</a:t>
            </a:r>
          </a:p>
          <a:p>
            <a:pPr>
              <a:spcBef>
                <a:spcPts val="800"/>
              </a:spcBef>
              <a:defRPr sz="1100" b="1">
                <a:solidFill>
                  <a:srgbClr val="1D4ED8"/>
                </a:solidFill>
              </a:defRPr>
            </a:pPr>
            <a:r>
              <a:t>mean_age</a:t>
            </a:r>
          </a:p>
          <a:p>
            <a:pPr>
              <a:defRPr sz="950">
                <a:solidFill>
                  <a:srgbClr val="334155"/>
                </a:solidFill>
              </a:defRPr>
            </a:pPr>
            <a:r>
              <a:t>Average athlete age in years (18.0 to 35.0 yrs)</a:t>
            </a:r>
          </a:p>
          <a:p>
            <a:pPr>
              <a:spcBef>
                <a:spcPts val="800"/>
              </a:spcBef>
              <a:defRPr sz="1100" b="1">
                <a:solidFill>
                  <a:srgbClr val="1D4ED8"/>
                </a:solidFill>
              </a:defRPr>
            </a:pPr>
            <a:r>
              <a:t>female_ratio</a:t>
            </a:r>
          </a:p>
          <a:p>
            <a:pPr>
              <a:defRPr sz="950">
                <a:solidFill>
                  <a:srgbClr val="334155"/>
                </a:solidFill>
              </a:defRPr>
            </a:pPr>
            <a:r>
              <a:t>Proportion of female athletes on roster (0.0 to 1.0)</a:t>
            </a:r>
          </a:p>
          <a:p>
            <a:pPr>
              <a:spcBef>
                <a:spcPts val="800"/>
              </a:spcBef>
              <a:defRPr sz="1100" b="1">
                <a:solidFill>
                  <a:srgbClr val="1D4ED8"/>
                </a:solidFill>
              </a:defRPr>
            </a:pPr>
            <a:r>
              <a:t>mean_height</a:t>
            </a:r>
          </a:p>
          <a:p>
            <a:pPr>
              <a:defRPr sz="950">
                <a:solidFill>
                  <a:srgbClr val="334155"/>
                </a:solidFill>
              </a:defRPr>
            </a:pPr>
            <a:r>
              <a:t>Average athlete height in cm (155.0 to 195.0 cm)</a:t>
            </a:r>
          </a:p>
          <a:p>
            <a:pPr>
              <a:spcBef>
                <a:spcPts val="800"/>
              </a:spcBef>
              <a:defRPr sz="1100" b="1">
                <a:solidFill>
                  <a:srgbClr val="1D4ED8"/>
                </a:solidFill>
              </a:defRPr>
            </a:pPr>
            <a:r>
              <a:t>mean_weight</a:t>
            </a:r>
          </a:p>
          <a:p>
            <a:pPr>
              <a:defRPr sz="950">
                <a:solidFill>
                  <a:srgbClr val="334155"/>
                </a:solidFill>
              </a:defRPr>
            </a:pPr>
            <a:r>
              <a:t>Average athlete weight in kg (45.0 to 105.0 kg)</a:t>
            </a:r>
          </a:p>
          <a:p>
            <a:pPr>
              <a:spcBef>
                <a:spcPts val="800"/>
              </a:spcBef>
              <a:defRPr sz="1100" b="1">
                <a:solidFill>
                  <a:srgbClr val="1D4ED8"/>
                </a:solidFill>
              </a:defRPr>
            </a:pPr>
            <a:r>
              <a:t>mean_bmi</a:t>
            </a:r>
          </a:p>
          <a:p>
            <a:pPr>
              <a:defRPr sz="950">
                <a:solidFill>
                  <a:srgbClr val="334155"/>
                </a:solidFill>
              </a:defRPr>
            </a:pPr>
            <a:r>
              <a:t>Computed delegation Body Mass Index (18.0 to 28.0 kg/m²)</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Exploratory Data Analysis: Distributions &amp; Correlations</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Pearson Linear Correlation Rankings</a:t>
            </a:r>
          </a:p>
          <a:p>
            <a:pPr>
              <a:spcBef>
                <a:spcPts val="800"/>
              </a:spcBef>
              <a:defRPr b="1" sz="1100">
                <a:solidFill>
                  <a:srgbClr val="0F172A"/>
                </a:solidFill>
              </a:defRPr>
            </a:pPr>
            <a:r>
              <a:t>Total Medals Won (Volume): </a:t>
            </a:r>
            <a:r>
              <a:rPr b="0">
                <a:solidFill>
                  <a:srgbClr val="334155"/>
                </a:solidFill>
              </a:rPr>
              <a:t>Highest linear predictor is prev_medals (r = +0.901), followed by total_entries (+0.834) and total_athletes (+0.834). Established programs carry persistent momentum.</a:t>
            </a:r>
          </a:p>
          <a:p>
            <a:pPr>
              <a:spcBef>
                <a:spcPts val="800"/>
              </a:spcBef>
              <a:defRPr b="1" sz="1100">
                <a:solidFill>
                  <a:srgbClr val="0F172A"/>
                </a:solidFill>
              </a:defRPr>
            </a:pPr>
            <a:r>
              <a:t>Podium Occurrence (Any Medal): </a:t>
            </a:r>
            <a:r>
              <a:rPr b="0">
                <a:solidFill>
                  <a:srgbClr val="334155"/>
                </a:solidFill>
              </a:rPr>
              <a:t>Highest linear predictor is num_sports (r = +0.702), followed by num_events (+0.635). Expanding across sports gives independent chances to win at least one medal.</a:t>
            </a:r>
          </a:p>
          <a:p>
            <a:pPr>
              <a:spcBef>
                <a:spcPts val="800"/>
              </a:spcBef>
              <a:defRPr b="1" sz="1100">
                <a:solidFill>
                  <a:srgbClr val="0F172A"/>
                </a:solidFill>
              </a:defRPr>
            </a:pPr>
            <a:r>
              <a:t>Host Nation Benefit: </a:t>
            </a:r>
            <a:r>
              <a:rPr b="0">
                <a:solidFill>
                  <a:srgbClr val="334155"/>
                </a:solidFill>
              </a:rPr>
              <a:t>Host status correlates moderately with medals (r = +0.304), yielding on average +4.12 additional medals via quota entry rules and crowd familiarity.</a:t>
            </a:r>
          </a:p>
          <a:p>
            <a:pPr>
              <a:spcBef>
                <a:spcPts val="800"/>
              </a:spcBef>
              <a:defRPr b="1" sz="1100">
                <a:solidFill>
                  <a:srgbClr val="0F172A"/>
                </a:solidFill>
              </a:defRPr>
            </a:pPr>
            <a:r>
              <a:t>Biometrics Divergence: </a:t>
            </a:r>
            <a:r>
              <a:rPr b="0">
                <a:solidFill>
                  <a:srgbClr val="334155"/>
                </a:solidFill>
              </a:rPr>
              <a:t>Athlete biometrics (mean_age r=+0.012, mean_bmi r=-0.006) show negligible linear correlation because optimal body types vary dramatically across sports.</a:t>
            </a:r>
          </a:p>
        </p:txBody>
      </p:sp>
      <p:sp>
        <p:nvSpPr>
          <p:cNvPr id="7" name="Rounded Rectangle 6"/>
          <p:cNvSpPr/>
          <p:nvPr/>
        </p:nvSpPr>
        <p:spPr>
          <a:xfrm>
            <a:off x="6217920" y="1554480"/>
            <a:ext cx="521208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Empirical Distribution Characteristics</a:t>
            </a:r>
          </a:p>
          <a:p>
            <a:pPr>
              <a:spcBef>
                <a:spcPts val="800"/>
              </a:spcBef>
              <a:defRPr b="1" sz="1100">
                <a:solidFill>
                  <a:srgbClr val="0F172A"/>
                </a:solidFill>
              </a:defRPr>
            </a:pPr>
            <a:r>
              <a:t>Extreme Pareto Skewness: </a:t>
            </a:r>
            <a:r>
              <a:rPr b="0">
                <a:solidFill>
                  <a:srgbClr val="334155"/>
                </a:solidFill>
              </a:rPr>
              <a:t>Medal counts follow a severe power law: 59.94% of delegations win 0 medals, while top 5 nations capture over 40% of all medals.</a:t>
            </a:r>
          </a:p>
          <a:p>
            <a:pPr>
              <a:spcBef>
                <a:spcPts val="800"/>
              </a:spcBef>
              <a:defRPr b="1" sz="1100">
                <a:solidFill>
                  <a:srgbClr val="0F172A"/>
                </a:solidFill>
              </a:defRPr>
            </a:pPr>
            <a:r>
              <a:t>Medal Winners vs Non-Winners: </a:t>
            </a:r>
            <a:r>
              <a:rPr b="0">
                <a:solidFill>
                  <a:srgbClr val="334155"/>
                </a:solidFill>
              </a:rPr>
              <a:t>Median roster for medal-winning teams is 142 athletes across 16 sports; median roster for non-winners is 11 athletes across 4 sports (12.9x difference).</a:t>
            </a:r>
          </a:p>
          <a:p>
            <a:pPr>
              <a:spcBef>
                <a:spcPts val="800"/>
              </a:spcBef>
              <a:defRPr b="1" sz="1100">
                <a:solidFill>
                  <a:srgbClr val="0F172A"/>
                </a:solidFill>
              </a:defRPr>
            </a:pPr>
            <a:r>
              <a:t>Non-Linear Threshold Dynamics: </a:t>
            </a:r>
            <a:r>
              <a:rPr b="0">
                <a:solidFill>
                  <a:srgbClr val="334155"/>
                </a:solidFill>
              </a:rPr>
              <a:t>Medal probability exhibits an S-curve: delegations with &lt;15 athletes have &lt;5% podium probability; exceeding 60 athletes crosses 70% podium probability.</a:t>
            </a:r>
          </a:p>
          <a:p>
            <a:pPr>
              <a:spcBef>
                <a:spcPts val="800"/>
              </a:spcBef>
              <a:defRPr b="1" sz="1100">
                <a:solidFill>
                  <a:srgbClr val="0F172A"/>
                </a:solidFill>
              </a:defRPr>
            </a:pPr>
            <a:r>
              <a:t>Methodological Impact: </a:t>
            </a:r>
            <a:r>
              <a:rPr b="0">
                <a:solidFill>
                  <a:srgbClr val="334155"/>
                </a:solidFill>
              </a:rPr>
              <a:t>Severe skewness and non-linear thresholds make standard linear models prone to bias. Tree-based partitioning is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Selection: Technical Justification for Random Forest</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1. Direct Problem Alignment (Feature Importance)</a:t>
            </a:r>
          </a:p>
          <a:p>
            <a:pPr>
              <a:defRPr sz="950">
                <a:solidFill>
                  <a:srgbClr val="334155"/>
                </a:solidFill>
              </a:defRPr>
            </a:pPr>
            <a:r>
              <a:t>The problem statement explicitly requires understanding which factors are associated with team results. Random Forest natively outputs Mean Decrease in Impurity (Gini MDI) and Permutation Importance across all 200 trees, providing objective factor attribution.</a:t>
            </a:r>
          </a:p>
        </p:txBody>
      </p:sp>
      <p:sp>
        <p:nvSpPr>
          <p:cNvPr id="7" name="Rounded Rectangle 6"/>
          <p:cNvSpPr/>
          <p:nvPr/>
        </p:nvSpPr>
        <p:spPr>
          <a:xfrm>
            <a:off x="731520" y="242316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2. Captures Non-Linear Synergies &amp; Thresholds</a:t>
            </a:r>
          </a:p>
          <a:p>
            <a:pPr>
              <a:defRPr sz="950">
                <a:solidFill>
                  <a:srgbClr val="334155"/>
                </a:solidFill>
              </a:defRPr>
            </a:pPr>
            <a:r>
              <a:t>Olympic success is non-linear. Adding 10 athletes in the same sport has diminishing returns, but expanding into an entirely new sport adds independent medal chances. Tree splits naturally capture these multi-variable interaction effects.</a:t>
            </a:r>
          </a:p>
        </p:txBody>
      </p:sp>
      <p:sp>
        <p:nvSpPr>
          <p:cNvPr id="8" name="Rounded Rectangle 7"/>
          <p:cNvSpPr/>
          <p:nvPr/>
        </p:nvSpPr>
        <p:spPr>
          <a:xfrm>
            <a:off x="731520" y="338328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3. Robustness to Extreme Sports Outliers</a:t>
            </a:r>
          </a:p>
          <a:p>
            <a:pPr>
              <a:defRPr sz="950">
                <a:solidFill>
                  <a:srgbClr val="334155"/>
                </a:solidFill>
              </a:defRPr>
            </a:pPr>
            <a:r>
              <a:t>Powerhouse delegations like USA (600+ athletes, 100+ medals) act as extreme leverage points in linear/distance models. Decision trees split on rank ordering rather than geometric distance, making them immune to outlier distortion.</a:t>
            </a:r>
          </a:p>
        </p:txBody>
      </p:sp>
      <p:sp>
        <p:nvSpPr>
          <p:cNvPr id="9" name="Rounded Rectangle 8"/>
          <p:cNvSpPr/>
          <p:nvPr/>
        </p:nvSpPr>
        <p:spPr>
          <a:xfrm>
            <a:off x="731520" y="434340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4. Variance Reduction via Bagging &amp; Subspace Sampling</a:t>
            </a:r>
          </a:p>
          <a:p>
            <a:pPr>
              <a:defRPr sz="950">
                <a:solidFill>
                  <a:srgbClr val="334155"/>
                </a:solidFill>
              </a:defRPr>
            </a:pPr>
            <a:r>
              <a:t>Single decision trees overfit historical tournaments. Random Forest trains 200 de-correlated trees via bootstrap row sampling and sqrt(p) random feature selection at each node, averaging out individual tree noise.</a:t>
            </a:r>
          </a:p>
        </p:txBody>
      </p:sp>
      <p:sp>
        <p:nvSpPr>
          <p:cNvPr id="10" name="Rounded Rectangle 9"/>
          <p:cNvSpPr/>
          <p:nvPr/>
        </p:nvSpPr>
        <p:spPr>
          <a:xfrm>
            <a:off x="731520" y="530352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5. Scale &amp; Monotonic Invariance</a:t>
            </a:r>
          </a:p>
          <a:p>
            <a:pPr>
              <a:defRPr sz="950">
                <a:solidFill>
                  <a:srgbClr val="334155"/>
                </a:solidFill>
              </a:defRPr>
            </a:pPr>
            <a:r>
              <a:t>Seamlessly handles counts (total_athletes), percentages (female_ratio), and continuous biometrics (mean_bmi) without forcing artificial mathematical distributions.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Evaluation &amp; Benchmark Performance</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Classification Model: Random Forest</a:t>
            </a:r>
          </a:p>
          <a:p>
            <a:pPr>
              <a:spcBef>
                <a:spcPts val="600"/>
              </a:spcBef>
              <a:defRPr b="1" sz="1100">
                <a:solidFill>
                  <a:srgbClr val="0F172A"/>
                </a:solidFill>
              </a:defRPr>
            </a:pPr>
            <a:r>
              <a:t>Test Accuracy: </a:t>
            </a:r>
            <a:r>
              <a:rPr b="1">
                <a:solidFill>
                  <a:srgbClr val="1D4ED8"/>
                </a:solidFill>
              </a:rPr>
              <a:t>90.51% </a:t>
            </a:r>
            <a:r>
              <a:rPr b="0">
                <a:solidFill>
                  <a:srgbClr val="334155"/>
                </a:solidFill>
              </a:rPr>
              <a:t>(Correctly classifies 9 out of 10 delegations)</a:t>
            </a:r>
          </a:p>
          <a:p>
            <a:pPr>
              <a:spcBef>
                <a:spcPts val="600"/>
              </a:spcBef>
              <a:defRPr b="1" sz="1100">
                <a:solidFill>
                  <a:srgbClr val="0F172A"/>
                </a:solidFill>
              </a:defRPr>
            </a:pPr>
            <a:r>
              <a:t>Precision (Medal Winners): </a:t>
            </a:r>
            <a:r>
              <a:rPr b="1">
                <a:solidFill>
                  <a:srgbClr val="1D4ED8"/>
                </a:solidFill>
              </a:rPr>
              <a:t>90.12% </a:t>
            </a:r>
            <a:r>
              <a:rPr b="0">
                <a:solidFill>
                  <a:srgbClr val="334155"/>
                </a:solidFill>
              </a:rPr>
              <a:t>(Minimal false alarms when predicting podium)</a:t>
            </a:r>
          </a:p>
          <a:p>
            <a:pPr>
              <a:spcBef>
                <a:spcPts val="600"/>
              </a:spcBef>
              <a:defRPr b="1" sz="1100">
                <a:solidFill>
                  <a:srgbClr val="0F172A"/>
                </a:solidFill>
              </a:defRPr>
            </a:pPr>
            <a:r>
              <a:t>Recall (Medal Winners): </a:t>
            </a:r>
            <a:r>
              <a:rPr b="1">
                <a:solidFill>
                  <a:srgbClr val="1D4ED8"/>
                </a:solidFill>
              </a:rPr>
              <a:t>85.64% </a:t>
            </a:r>
            <a:r>
              <a:rPr b="0">
                <a:solidFill>
                  <a:srgbClr val="334155"/>
                </a:solidFill>
              </a:rPr>
              <a:t>(Captures 85.6% of all true medal-winning nations)</a:t>
            </a:r>
          </a:p>
          <a:p>
            <a:pPr>
              <a:spcBef>
                <a:spcPts val="600"/>
              </a:spcBef>
              <a:defRPr b="1" sz="1100">
                <a:solidFill>
                  <a:srgbClr val="0F172A"/>
                </a:solidFill>
              </a:defRPr>
            </a:pPr>
            <a:r>
              <a:t>F1-Score: </a:t>
            </a:r>
            <a:r>
              <a:rPr b="1">
                <a:solidFill>
                  <a:srgbClr val="1D4ED8"/>
                </a:solidFill>
              </a:rPr>
              <a:t>0.8782 </a:t>
            </a:r>
            <a:r>
              <a:rPr b="0">
                <a:solidFill>
                  <a:srgbClr val="334155"/>
                </a:solidFill>
              </a:rPr>
              <a:t>(Harmonic balance of precision and recall)</a:t>
            </a:r>
          </a:p>
          <a:p>
            <a:pPr>
              <a:spcBef>
                <a:spcPts val="600"/>
              </a:spcBef>
              <a:defRPr b="1" sz="1100">
                <a:solidFill>
                  <a:srgbClr val="0F172A"/>
                </a:solidFill>
              </a:defRPr>
            </a:pPr>
            <a:r>
              <a:t>ROC-AUC Score: </a:t>
            </a:r>
            <a:r>
              <a:rPr b="1">
                <a:solidFill>
                  <a:srgbClr val="1D4ED8"/>
                </a:solidFill>
              </a:rPr>
              <a:t>0.9584 </a:t>
            </a:r>
            <a:r>
              <a:rPr b="0">
                <a:solidFill>
                  <a:srgbClr val="334155"/>
                </a:solidFill>
              </a:rPr>
              <a:t>(Outstanding discriminative threshold separation)</a:t>
            </a:r>
          </a:p>
          <a:p>
            <a:pPr>
              <a:spcBef>
                <a:spcPts val="600"/>
              </a:spcBef>
              <a:defRPr b="1" sz="1100">
                <a:solidFill>
                  <a:srgbClr val="0F172A"/>
                </a:solidFill>
              </a:defRPr>
            </a:pPr>
            <a:r>
              <a:t>Confusion Matrix (n=453): </a:t>
            </a:r>
            <a:r>
              <a:rPr b="1">
                <a:solidFill>
                  <a:srgbClr val="1D4ED8"/>
                </a:solidFill>
              </a:rPr>
              <a:t>TN: 255 | FP: 17 | FN: 26 | TP: 155 </a:t>
            </a:r>
            <a:r>
              <a:rPr b="0">
                <a:solidFill>
                  <a:srgbClr val="334155"/>
                </a:solidFill>
              </a:rPr>
              <a:t>(Held-out test set distribution)</a:t>
            </a:r>
          </a:p>
        </p:txBody>
      </p:sp>
      <p:sp>
        <p:nvSpPr>
          <p:cNvPr id="7" name="Rounded Rectangle 6"/>
          <p:cNvSpPr/>
          <p:nvPr/>
        </p:nvSpPr>
        <p:spPr>
          <a:xfrm>
            <a:off x="6217920" y="1554480"/>
            <a:ext cx="521208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Regression Model: Gradient Boosting</a:t>
            </a:r>
          </a:p>
          <a:p>
            <a:pPr>
              <a:spcBef>
                <a:spcPts val="600"/>
              </a:spcBef>
              <a:defRPr b="1" sz="1100">
                <a:solidFill>
                  <a:srgbClr val="0F172A"/>
                </a:solidFill>
              </a:defRPr>
            </a:pPr>
            <a:r>
              <a:t>Train R2 (Normal R2): </a:t>
            </a:r>
            <a:r>
              <a:rPr b="1">
                <a:solidFill>
                  <a:srgbClr val="1D4ED8"/>
                </a:solidFill>
              </a:rPr>
              <a:t>0.9863 </a:t>
            </a:r>
            <a:r>
              <a:rPr b="0">
                <a:solidFill>
                  <a:srgbClr val="334155"/>
                </a:solidFill>
              </a:rPr>
              <a:t>(Explains 98.6% of variance on training data)</a:t>
            </a:r>
          </a:p>
          <a:p>
            <a:pPr>
              <a:spcBef>
                <a:spcPts val="600"/>
              </a:spcBef>
              <a:defRPr b="1" sz="1100">
                <a:solidFill>
                  <a:srgbClr val="0F172A"/>
                </a:solidFill>
              </a:defRPr>
            </a:pPr>
            <a:r>
              <a:t>Test R2 (Normal R2): </a:t>
            </a:r>
            <a:r>
              <a:rPr b="1">
                <a:solidFill>
                  <a:srgbClr val="1D4ED8"/>
                </a:solidFill>
              </a:rPr>
              <a:t>0.8838 </a:t>
            </a:r>
            <a:r>
              <a:rPr b="0">
                <a:solidFill>
                  <a:srgbClr val="334155"/>
                </a:solidFill>
              </a:rPr>
              <a:t>(Explains 88.4% of variance on unseen test data)</a:t>
            </a:r>
          </a:p>
          <a:p>
            <a:pPr>
              <a:spcBef>
                <a:spcPts val="600"/>
              </a:spcBef>
              <a:defRPr b="1" sz="1100">
                <a:solidFill>
                  <a:srgbClr val="0F172A"/>
                </a:solidFill>
              </a:defRPr>
            </a:pPr>
            <a:r>
              <a:t>Mean Absolute Error (MAE): </a:t>
            </a:r>
            <a:r>
              <a:rPr b="1">
                <a:solidFill>
                  <a:srgbClr val="1D4ED8"/>
                </a:solidFill>
              </a:rPr>
              <a:t>1.80 Medals </a:t>
            </a:r>
            <a:r>
              <a:rPr b="0">
                <a:solidFill>
                  <a:srgbClr val="334155"/>
                </a:solidFill>
              </a:rPr>
              <a:t>(Average prediction error across all delegations)</a:t>
            </a:r>
          </a:p>
          <a:p>
            <a:pPr>
              <a:spcBef>
                <a:spcPts val="600"/>
              </a:spcBef>
              <a:defRPr b="1" sz="1100">
                <a:solidFill>
                  <a:srgbClr val="0F172A"/>
                </a:solidFill>
              </a:defRPr>
            </a:pPr>
            <a:r>
              <a:t>Root Mean Squared Error (RMSE): </a:t>
            </a:r>
            <a:r>
              <a:rPr b="1">
                <a:solidFill>
                  <a:srgbClr val="1D4ED8"/>
                </a:solidFill>
              </a:rPr>
              <a:t>5.01 Medals </a:t>
            </a:r>
            <a:r>
              <a:rPr b="0">
                <a:solidFill>
                  <a:srgbClr val="334155"/>
                </a:solidFill>
              </a:rPr>
              <a:t>(Penalizes large errors on dominant nations)</a:t>
            </a:r>
          </a:p>
          <a:p>
            <a:pPr>
              <a:spcBef>
                <a:spcPts val="600"/>
              </a:spcBef>
              <a:defRPr b="1" sz="1100">
                <a:solidFill>
                  <a:srgbClr val="0F172A"/>
                </a:solidFill>
              </a:defRPr>
            </a:pPr>
            <a:r>
              <a:t>Baseline Comparison (Dummy): </a:t>
            </a:r>
            <a:r>
              <a:rPr b="1">
                <a:solidFill>
                  <a:srgbClr val="1D4ED8"/>
                </a:solidFill>
              </a:rPr>
              <a:t>MAE: 7.74 | RMSE: 14.69 | R2: 0.00 </a:t>
            </a:r>
            <a:r>
              <a:rPr b="0">
                <a:solidFill>
                  <a:srgbClr val="334155"/>
                </a:solidFill>
              </a:rPr>
              <a:t>(Heuristic mean predictor baseline)</a:t>
            </a:r>
          </a:p>
          <a:p>
            <a:pPr>
              <a:spcBef>
                <a:spcPts val="600"/>
              </a:spcBef>
              <a:defRPr b="1" sz="1100">
                <a:solidFill>
                  <a:srgbClr val="0F172A"/>
                </a:solidFill>
              </a:defRPr>
            </a:pPr>
            <a:r>
              <a:t>Key Evaluation Takeaway: </a:t>
            </a:r>
            <a:r>
              <a:rPr b="1">
                <a:solidFill>
                  <a:srgbClr val="1D4ED8"/>
                </a:solidFill>
              </a:rPr>
              <a:t>Normal R2 demonstrates strong out-of-sample generalization without extreme overfitting. </a:t>
            </a:r>
            <a:r>
              <a:rPr b="0">
                <a:solidFill>
                  <a:srgbClr val="334155"/>
                </a:solidFill>
              </a:rPr>
              <a:t>(Test R2 of 0.8838 confirms reliable medal forecasting)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Feature Importance: Quantifying Factors Associated with Success</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1554480"/>
          <a:ext cx="5486400" cy="4754880"/>
        </p:xfrm>
        <a:graphic>
          <a:graphicData uri="http://schemas.openxmlformats.org/drawingml/2006/table">
            <a:tbl>
              <a:tblPr firstRow="1" bandRow="1">
                <a:tableStyleId>{5C22544A-7EE6-4342-B048-85BDC9FD1C3A}</a:tableStyleId>
              </a:tblPr>
              <a:tblGrid>
                <a:gridCol w="640080"/>
                <a:gridCol w="2926080"/>
                <a:gridCol w="1920240"/>
              </a:tblGrid>
              <a:tr h="396240">
                <a:tc>
                  <a:txBody>
                    <a:bodyPr/>
                    <a:lstStyle/>
                    <a:p>
                      <a:pPr>
                        <a:defRPr sz="950" b="1">
                          <a:solidFill>
                            <a:srgbClr val="FFFFFF"/>
                          </a:solidFill>
                        </a:defRPr>
                      </a:pPr>
                      <a:r>
                        <a:t>Rank</a:t>
                      </a:r>
                    </a:p>
                  </a:txBody>
                  <a:tcPr>
                    <a:solidFill>
                      <a:srgbClr val="1E3A8A"/>
                    </a:solidFill>
                  </a:tcPr>
                </a:tc>
                <a:tc>
                  <a:txBody>
                    <a:bodyPr/>
                    <a:lstStyle/>
                    <a:p>
                      <a:pPr>
                        <a:defRPr sz="950" b="1">
                          <a:solidFill>
                            <a:srgbClr val="FFFFFF"/>
                          </a:solidFill>
                        </a:defRPr>
                      </a:pPr>
                      <a:r>
                        <a:t>Measurable Factor</a:t>
                      </a:r>
                    </a:p>
                  </a:txBody>
                  <a:tcPr>
                    <a:solidFill>
                      <a:srgbClr val="1E3A8A"/>
                    </a:solidFill>
                  </a:tcPr>
                </a:tc>
                <a:tc>
                  <a:txBody>
                    <a:bodyPr/>
                    <a:lstStyle/>
                    <a:p>
                      <a:pPr>
                        <a:defRPr sz="950" b="1">
                          <a:solidFill>
                            <a:srgbClr val="FFFFFF"/>
                          </a:solidFill>
                        </a:defRPr>
                      </a:pPr>
                      <a:r>
                        <a:t>Importance (Gini MDI)</a:t>
                      </a:r>
                    </a:p>
                  </a:txBody>
                  <a:tcPr>
                    <a:solidFill>
                      <a:srgbClr val="1E3A8A"/>
                    </a:solidFill>
                  </a:tcPr>
                </a:tc>
              </a:tr>
              <a:tr h="396240">
                <a:tc>
                  <a:txBody>
                    <a:bodyPr/>
                    <a:lstStyle/>
                    <a:p>
                      <a:pPr>
                        <a:defRPr sz="850">
                          <a:solidFill>
                            <a:srgbClr val="0F172A"/>
                          </a:solidFill>
                        </a:defRPr>
                      </a:pPr>
                      <a:r>
                        <a:t>1</a:t>
                      </a:r>
                    </a:p>
                  </a:txBody>
                  <a:tcPr>
                    <a:noFill/>
                  </a:tcPr>
                </a:tc>
                <a:tc>
                  <a:txBody>
                    <a:bodyPr/>
                    <a:lstStyle/>
                    <a:p>
                      <a:pPr>
                        <a:defRPr sz="850">
                          <a:solidFill>
                            <a:srgbClr val="0F172A"/>
                          </a:solidFill>
                        </a:defRPr>
                      </a:pPr>
                      <a:r>
                        <a:t>total_athletes (Roster Size)</a:t>
                      </a:r>
                    </a:p>
                  </a:txBody>
                  <a:tcPr>
                    <a:noFill/>
                  </a:tcPr>
                </a:tc>
                <a:tc>
                  <a:txBody>
                    <a:bodyPr/>
                    <a:lstStyle/>
                    <a:p>
                      <a:pPr>
                        <a:defRPr sz="850">
                          <a:solidFill>
                            <a:srgbClr val="0F172A"/>
                          </a:solidFill>
                        </a:defRPr>
                      </a:pPr>
                      <a:r>
                        <a:t>25.53%</a:t>
                      </a:r>
                    </a:p>
                  </a:txBody>
                  <a:tcPr>
                    <a:noFill/>
                  </a:tcPr>
                </a:tc>
              </a:tr>
              <a:tr h="396240">
                <a:tc>
                  <a:txBody>
                    <a:bodyPr/>
                    <a:lstStyle/>
                    <a:p>
                      <a:pPr>
                        <a:defRPr sz="850">
                          <a:solidFill>
                            <a:srgbClr val="0F172A"/>
                          </a:solidFill>
                        </a:defRPr>
                      </a:pPr>
                      <a:r>
                        <a:t>2</a:t>
                      </a:r>
                    </a:p>
                  </a:txBody>
                  <a:tcPr>
                    <a:noFill/>
                  </a:tcPr>
                </a:tc>
                <a:tc>
                  <a:txBody>
                    <a:bodyPr/>
                    <a:lstStyle/>
                    <a:p>
                      <a:pPr>
                        <a:defRPr sz="850">
                          <a:solidFill>
                            <a:srgbClr val="0F172A"/>
                          </a:solidFill>
                        </a:defRPr>
                      </a:pPr>
                      <a:r>
                        <a:t>num_events (Opportunity Breadth)</a:t>
                      </a:r>
                    </a:p>
                  </a:txBody>
                  <a:tcPr>
                    <a:noFill/>
                  </a:tcPr>
                </a:tc>
                <a:tc>
                  <a:txBody>
                    <a:bodyPr/>
                    <a:lstStyle/>
                    <a:p>
                      <a:pPr>
                        <a:defRPr sz="850">
                          <a:solidFill>
                            <a:srgbClr val="0F172A"/>
                          </a:solidFill>
                        </a:defRPr>
                      </a:pPr>
                      <a:r>
                        <a:t>25.00%</a:t>
                      </a:r>
                    </a:p>
                  </a:txBody>
                  <a:tcPr>
                    <a:noFill/>
                  </a:tcPr>
                </a:tc>
              </a:tr>
              <a:tr h="396240">
                <a:tc>
                  <a:txBody>
                    <a:bodyPr/>
                    <a:lstStyle/>
                    <a:p>
                      <a:pPr>
                        <a:defRPr sz="850">
                          <a:solidFill>
                            <a:srgbClr val="0F172A"/>
                          </a:solidFill>
                        </a:defRPr>
                      </a:pPr>
                      <a:r>
                        <a:t>3</a:t>
                      </a:r>
                    </a:p>
                  </a:txBody>
                  <a:tcPr>
                    <a:noFill/>
                  </a:tcPr>
                </a:tc>
                <a:tc>
                  <a:txBody>
                    <a:bodyPr/>
                    <a:lstStyle/>
                    <a:p>
                      <a:pPr>
                        <a:defRPr sz="850">
                          <a:solidFill>
                            <a:srgbClr val="0F172A"/>
                          </a:solidFill>
                        </a:defRPr>
                      </a:pPr>
                      <a:r>
                        <a:t>total_entries (Total Registrations)</a:t>
                      </a:r>
                    </a:p>
                  </a:txBody>
                  <a:tcPr>
                    <a:noFill/>
                  </a:tcPr>
                </a:tc>
                <a:tc>
                  <a:txBody>
                    <a:bodyPr/>
                    <a:lstStyle/>
                    <a:p>
                      <a:pPr>
                        <a:defRPr sz="850">
                          <a:solidFill>
                            <a:srgbClr val="0F172A"/>
                          </a:solidFill>
                        </a:defRPr>
                      </a:pPr>
                      <a:r>
                        <a:t>16.47%</a:t>
                      </a:r>
                    </a:p>
                  </a:txBody>
                  <a:tcPr>
                    <a:noFill/>
                  </a:tcPr>
                </a:tc>
              </a:tr>
              <a:tr h="396240">
                <a:tc>
                  <a:txBody>
                    <a:bodyPr/>
                    <a:lstStyle/>
                    <a:p>
                      <a:pPr>
                        <a:defRPr sz="850">
                          <a:solidFill>
                            <a:srgbClr val="0F172A"/>
                          </a:solidFill>
                        </a:defRPr>
                      </a:pPr>
                      <a:r>
                        <a:t>4</a:t>
                      </a:r>
                    </a:p>
                  </a:txBody>
                  <a:tcPr>
                    <a:noFill/>
                  </a:tcPr>
                </a:tc>
                <a:tc>
                  <a:txBody>
                    <a:bodyPr/>
                    <a:lstStyle/>
                    <a:p>
                      <a:pPr>
                        <a:defRPr sz="850">
                          <a:solidFill>
                            <a:srgbClr val="0F172A"/>
                          </a:solidFill>
                        </a:defRPr>
                      </a:pPr>
                      <a:r>
                        <a:t>num_sports (Discipline Spread)</a:t>
                      </a:r>
                    </a:p>
                  </a:txBody>
                  <a:tcPr>
                    <a:noFill/>
                  </a:tcPr>
                </a:tc>
                <a:tc>
                  <a:txBody>
                    <a:bodyPr/>
                    <a:lstStyle/>
                    <a:p>
                      <a:pPr>
                        <a:defRPr sz="850">
                          <a:solidFill>
                            <a:srgbClr val="0F172A"/>
                          </a:solidFill>
                        </a:defRPr>
                      </a:pPr>
                      <a:r>
                        <a:t>11.92%</a:t>
                      </a:r>
                    </a:p>
                  </a:txBody>
                  <a:tcPr>
                    <a:noFill/>
                  </a:tcPr>
                </a:tc>
              </a:tr>
              <a:tr h="396240">
                <a:tc>
                  <a:txBody>
                    <a:bodyPr/>
                    <a:lstStyle/>
                    <a:p>
                      <a:pPr>
                        <a:defRPr sz="850">
                          <a:solidFill>
                            <a:srgbClr val="0F172A"/>
                          </a:solidFill>
                        </a:defRPr>
                      </a:pPr>
                      <a:r>
                        <a:t>5</a:t>
                      </a:r>
                    </a:p>
                  </a:txBody>
                  <a:tcPr>
                    <a:noFill/>
                  </a:tcPr>
                </a:tc>
                <a:tc>
                  <a:txBody>
                    <a:bodyPr/>
                    <a:lstStyle/>
                    <a:p>
                      <a:pPr>
                        <a:defRPr sz="850">
                          <a:solidFill>
                            <a:srgbClr val="0F172A"/>
                          </a:solidFill>
                        </a:defRPr>
                      </a:pPr>
                      <a:r>
                        <a:t>prev_medals (Historical Momentum)</a:t>
                      </a:r>
                    </a:p>
                  </a:txBody>
                  <a:tcPr>
                    <a:noFill/>
                  </a:tcPr>
                </a:tc>
                <a:tc>
                  <a:txBody>
                    <a:bodyPr/>
                    <a:lstStyle/>
                    <a:p>
                      <a:pPr>
                        <a:defRPr sz="850">
                          <a:solidFill>
                            <a:srgbClr val="0F172A"/>
                          </a:solidFill>
                        </a:defRPr>
                      </a:pPr>
                      <a:r>
                        <a:t>11.27%</a:t>
                      </a:r>
                    </a:p>
                  </a:txBody>
                  <a:tcPr>
                    <a:noFill/>
                  </a:tcPr>
                </a:tc>
              </a:tr>
              <a:tr h="396240">
                <a:tc>
                  <a:txBody>
                    <a:bodyPr/>
                    <a:lstStyle/>
                    <a:p>
                      <a:pPr>
                        <a:defRPr sz="850">
                          <a:solidFill>
                            <a:srgbClr val="0F172A"/>
                          </a:solidFill>
                        </a:defRPr>
                      </a:pPr>
                      <a:r>
                        <a:t>6</a:t>
                      </a:r>
                    </a:p>
                  </a:txBody>
                  <a:tcPr>
                    <a:noFill/>
                  </a:tcPr>
                </a:tc>
                <a:tc>
                  <a:txBody>
                    <a:bodyPr/>
                    <a:lstStyle/>
                    <a:p>
                      <a:pPr>
                        <a:defRPr sz="850">
                          <a:solidFill>
                            <a:srgbClr val="0F172A"/>
                          </a:solidFill>
                        </a:defRPr>
                      </a:pPr>
                      <a:r>
                        <a:t>mean_age (Roster Maturity)</a:t>
                      </a:r>
                    </a:p>
                  </a:txBody>
                  <a:tcPr>
                    <a:noFill/>
                  </a:tcPr>
                </a:tc>
                <a:tc>
                  <a:txBody>
                    <a:bodyPr/>
                    <a:lstStyle/>
                    <a:p>
                      <a:pPr>
                        <a:defRPr sz="850">
                          <a:solidFill>
                            <a:srgbClr val="0F172A"/>
                          </a:solidFill>
                        </a:defRPr>
                      </a:pPr>
                      <a:r>
                        <a:t>2.83%</a:t>
                      </a:r>
                    </a:p>
                  </a:txBody>
                  <a:tcPr>
                    <a:noFill/>
                  </a:tcPr>
                </a:tc>
              </a:tr>
              <a:tr h="396240">
                <a:tc>
                  <a:txBody>
                    <a:bodyPr/>
                    <a:lstStyle/>
                    <a:p>
                      <a:pPr>
                        <a:defRPr sz="850">
                          <a:solidFill>
                            <a:srgbClr val="0F172A"/>
                          </a:solidFill>
                        </a:defRPr>
                      </a:pPr>
                      <a:r>
                        <a:t>7</a:t>
                      </a:r>
                    </a:p>
                  </a:txBody>
                  <a:tcPr>
                    <a:noFill/>
                  </a:tcPr>
                </a:tc>
                <a:tc>
                  <a:txBody>
                    <a:bodyPr/>
                    <a:lstStyle/>
                    <a:p>
                      <a:pPr>
                        <a:defRPr sz="850">
                          <a:solidFill>
                            <a:srgbClr val="0F172A"/>
                          </a:solidFill>
                        </a:defRPr>
                      </a:pPr>
                      <a:r>
                        <a:t>female_ratio (Gender Parity)</a:t>
                      </a:r>
                    </a:p>
                  </a:txBody>
                  <a:tcPr>
                    <a:noFill/>
                  </a:tcPr>
                </a:tc>
                <a:tc>
                  <a:txBody>
                    <a:bodyPr/>
                    <a:lstStyle/>
                    <a:p>
                      <a:pPr>
                        <a:defRPr sz="850">
                          <a:solidFill>
                            <a:srgbClr val="0F172A"/>
                          </a:solidFill>
                        </a:defRPr>
                      </a:pPr>
                      <a:r>
                        <a:t>1.89%</a:t>
                      </a:r>
                    </a:p>
                  </a:txBody>
                  <a:tcPr>
                    <a:noFill/>
                  </a:tcPr>
                </a:tc>
              </a:tr>
              <a:tr h="396240">
                <a:tc>
                  <a:txBody>
                    <a:bodyPr/>
                    <a:lstStyle/>
                    <a:p>
                      <a:pPr>
                        <a:defRPr sz="850">
                          <a:solidFill>
                            <a:srgbClr val="0F172A"/>
                          </a:solidFill>
                        </a:defRPr>
                      </a:pPr>
                      <a:r>
                        <a:t>8</a:t>
                      </a:r>
                    </a:p>
                  </a:txBody>
                  <a:tcPr>
                    <a:noFill/>
                  </a:tcPr>
                </a:tc>
                <a:tc>
                  <a:txBody>
                    <a:bodyPr/>
                    <a:lstStyle/>
                    <a:p>
                      <a:pPr>
                        <a:defRPr sz="850">
                          <a:solidFill>
                            <a:srgbClr val="0F172A"/>
                          </a:solidFill>
                        </a:defRPr>
                      </a:pPr>
                      <a:r>
                        <a:t>mean_height (Average Height)</a:t>
                      </a:r>
                    </a:p>
                  </a:txBody>
                  <a:tcPr>
                    <a:noFill/>
                  </a:tcPr>
                </a:tc>
                <a:tc>
                  <a:txBody>
                    <a:bodyPr/>
                    <a:lstStyle/>
                    <a:p>
                      <a:pPr>
                        <a:defRPr sz="850">
                          <a:solidFill>
                            <a:srgbClr val="0F172A"/>
                          </a:solidFill>
                        </a:defRPr>
                      </a:pPr>
                      <a:r>
                        <a:t>1.78%</a:t>
                      </a:r>
                    </a:p>
                  </a:txBody>
                  <a:tcPr>
                    <a:noFill/>
                  </a:tcPr>
                </a:tc>
              </a:tr>
              <a:tr h="396240">
                <a:tc>
                  <a:txBody>
                    <a:bodyPr/>
                    <a:lstStyle/>
                    <a:p>
                      <a:pPr>
                        <a:defRPr sz="850">
                          <a:solidFill>
                            <a:srgbClr val="0F172A"/>
                          </a:solidFill>
                        </a:defRPr>
                      </a:pPr>
                      <a:r>
                        <a:t>9</a:t>
                      </a:r>
                    </a:p>
                  </a:txBody>
                  <a:tcPr>
                    <a:noFill/>
                  </a:tcPr>
                </a:tc>
                <a:tc>
                  <a:txBody>
                    <a:bodyPr/>
                    <a:lstStyle/>
                    <a:p>
                      <a:pPr>
                        <a:defRPr sz="850">
                          <a:solidFill>
                            <a:srgbClr val="0F172A"/>
                          </a:solidFill>
                        </a:defRPr>
                      </a:pPr>
                      <a:r>
                        <a:t>mean_bmi (Average BMI)</a:t>
                      </a:r>
                    </a:p>
                  </a:txBody>
                  <a:tcPr>
                    <a:noFill/>
                  </a:tcPr>
                </a:tc>
                <a:tc>
                  <a:txBody>
                    <a:bodyPr/>
                    <a:lstStyle/>
                    <a:p>
                      <a:pPr>
                        <a:defRPr sz="850">
                          <a:solidFill>
                            <a:srgbClr val="0F172A"/>
                          </a:solidFill>
                        </a:defRPr>
                      </a:pPr>
                      <a:r>
                        <a:t>1.74%</a:t>
                      </a:r>
                    </a:p>
                  </a:txBody>
                  <a:tcPr>
                    <a:noFill/>
                  </a:tcPr>
                </a:tc>
              </a:tr>
              <a:tr h="396240">
                <a:tc>
                  <a:txBody>
                    <a:bodyPr/>
                    <a:lstStyle/>
                    <a:p>
                      <a:pPr>
                        <a:defRPr sz="850">
                          <a:solidFill>
                            <a:srgbClr val="0F172A"/>
                          </a:solidFill>
                        </a:defRPr>
                      </a:pPr>
                      <a:r>
                        <a:t>10</a:t>
                      </a:r>
                    </a:p>
                  </a:txBody>
                  <a:tcPr>
                    <a:noFill/>
                  </a:tcPr>
                </a:tc>
                <a:tc>
                  <a:txBody>
                    <a:bodyPr/>
                    <a:lstStyle/>
                    <a:p>
                      <a:pPr>
                        <a:defRPr sz="850">
                          <a:solidFill>
                            <a:srgbClr val="0F172A"/>
                          </a:solidFill>
                        </a:defRPr>
                      </a:pPr>
                      <a:r>
                        <a:t>mean_weight (Average Weight)</a:t>
                      </a:r>
                    </a:p>
                  </a:txBody>
                  <a:tcPr>
                    <a:noFill/>
                  </a:tcPr>
                </a:tc>
                <a:tc>
                  <a:txBody>
                    <a:bodyPr/>
                    <a:lstStyle/>
                    <a:p>
                      <a:pPr>
                        <a:defRPr sz="850">
                          <a:solidFill>
                            <a:srgbClr val="0F172A"/>
                          </a:solidFill>
                        </a:defRPr>
                      </a:pPr>
                      <a:r>
                        <a:t>1.57%</a:t>
                      </a:r>
                    </a:p>
                  </a:txBody>
                  <a:tcPr>
                    <a:noFill/>
                  </a:tcPr>
                </a:tc>
              </a:tr>
              <a:tr h="396240">
                <a:tc>
                  <a:txBody>
                    <a:bodyPr/>
                    <a:lstStyle/>
                    <a:p>
                      <a:pPr>
                        <a:defRPr sz="850">
                          <a:solidFill>
                            <a:srgbClr val="0F172A"/>
                          </a:solidFill>
                        </a:defRPr>
                      </a:pPr>
                      <a:r>
                        <a:t>11</a:t>
                      </a:r>
                    </a:p>
                  </a:txBody>
                  <a:tcPr>
                    <a:noFill/>
                  </a:tcPr>
                </a:tc>
                <a:tc>
                  <a:txBody>
                    <a:bodyPr/>
                    <a:lstStyle/>
                    <a:p>
                      <a:pPr>
                        <a:defRPr sz="850">
                          <a:solidFill>
                            <a:srgbClr val="0F172A"/>
                          </a:solidFill>
                        </a:defRPr>
                      </a:pPr>
                      <a:r>
                        <a:t>is_host (Host Nation Status)</a:t>
                      </a:r>
                    </a:p>
                  </a:txBody>
                  <a:tcPr>
                    <a:noFill/>
                  </a:tcPr>
                </a:tc>
                <a:tc>
                  <a:txBody>
                    <a:bodyPr/>
                    <a:lstStyle/>
                    <a:p>
                      <a:pPr>
                        <a:defRPr sz="850">
                          <a:solidFill>
                            <a:srgbClr val="0F172A"/>
                          </a:solidFill>
                        </a:defRPr>
                      </a:pPr>
                      <a:r>
                        <a:t>&lt; 0.01% (Direct tree split)</a:t>
                      </a:r>
                    </a:p>
                  </a:txBody>
                  <a:tcPr>
                    <a:noFill/>
                  </a:tcPr>
                </a:tc>
              </a:tr>
            </a:tbl>
          </a:graphicData>
        </a:graphic>
      </p:graphicFrame>
      <p:sp>
        <p:nvSpPr>
          <p:cNvPr id="7" name="Rounded Rectangle 6"/>
          <p:cNvSpPr/>
          <p:nvPr/>
        </p:nvSpPr>
        <p:spPr>
          <a:xfrm>
            <a:off x="6492240" y="1554480"/>
            <a:ext cx="493776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Key Analytical Findings &amp; Justification</a:t>
            </a:r>
          </a:p>
          <a:p>
            <a:pPr>
              <a:spcBef>
                <a:spcPts val="800"/>
              </a:spcBef>
              <a:defRPr b="1" sz="1100">
                <a:solidFill>
                  <a:srgbClr val="0F172A"/>
                </a:solidFill>
              </a:defRPr>
            </a:pPr>
            <a:r>
              <a:t>The 78.9% Law of Roster Scope: </a:t>
            </a:r>
            <a:r>
              <a:rPr b="0">
                <a:solidFill>
                  <a:srgbClr val="334155"/>
                </a:solidFill>
              </a:rPr>
              <a:t>Organizational scale (athletes, events, entries, sports) accounts for nearly four-fifths of all predictive power. Winning medals requires participating across multiple medal-awarding categories.</a:t>
            </a:r>
          </a:p>
          <a:p>
            <a:pPr>
              <a:spcBef>
                <a:spcPts val="800"/>
              </a:spcBef>
              <a:defRPr b="1" sz="1100">
                <a:solidFill>
                  <a:srgbClr val="0F172A"/>
                </a:solidFill>
              </a:defRPr>
            </a:pPr>
            <a:r>
              <a:t>The 11.3% Momentum Factor: </a:t>
            </a:r>
            <a:r>
              <a:rPr b="0">
                <a:solidFill>
                  <a:srgbClr val="334155"/>
                </a:solidFill>
              </a:rPr>
              <a:t>Past medals won captures institutional coaching infrastructure, government sports funding, and sustained sports science investments across quadrennials.</a:t>
            </a:r>
          </a:p>
          <a:p>
            <a:pPr>
              <a:spcBef>
                <a:spcPts val="800"/>
              </a:spcBef>
              <a:defRPr b="1" sz="1100">
                <a:solidFill>
                  <a:srgbClr val="0F172A"/>
                </a:solidFill>
              </a:defRPr>
            </a:pPr>
            <a:r>
              <a:t>The 9.8% Biometric Reality: </a:t>
            </a:r>
            <a:r>
              <a:rPr b="0">
                <a:solidFill>
                  <a:srgbClr val="334155"/>
                </a:solidFill>
              </a:rPr>
              <a:t>Physical dimensions (height, weight, BMI, age) play only a minor role at the delegation level. Why? Because elite physical requirements cancel out across diverse sports (e.g. jockeys vs rowers).</a:t>
            </a:r>
          </a:p>
          <a:p>
            <a:pPr>
              <a:spcBef>
                <a:spcPts val="800"/>
              </a:spcBef>
              <a:defRPr b="1" sz="1100">
                <a:solidFill>
                  <a:srgbClr val="0F172A"/>
                </a:solidFill>
              </a:defRPr>
            </a:pPr>
            <a:r>
              <a:t>Core Takeaway: </a:t>
            </a:r>
            <a:r>
              <a:rPr b="0">
                <a:solidFill>
                  <a:srgbClr val="334155"/>
                </a:solidFill>
              </a:rPr>
              <a:t>A nation cannot compensate for an undersized roster through superior biometrics alone; broad qualification breadth is the foundational prerequisite for Olympic success.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Functional Prototype: Streamlit Application Architecture</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7315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1. Live Cloud Deployment</a:t>
            </a:r>
          </a:p>
          <a:p>
            <a:pPr>
              <a:defRPr sz="950">
                <a:solidFill>
                  <a:srgbClr val="334155"/>
                </a:solidFill>
              </a:defRPr>
            </a:pPr>
            <a:r>
              <a:t>Deployed live on Streamlit Community Cloud: https://virshin1-team-performance-analysis-app-kwvw1u.streamlit.app/ - accessible globally with zero local installation required.</a:t>
            </a:r>
          </a:p>
        </p:txBody>
      </p:sp>
      <p:sp>
        <p:nvSpPr>
          <p:cNvPr id="7" name="Rounded Rectangle 6"/>
          <p:cNvSpPr/>
          <p:nvPr/>
        </p:nvSpPr>
        <p:spPr>
          <a:xfrm>
            <a:off x="731520" y="2267712"/>
            <a:ext cx="10698480" cy="7315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2. Benchmark Scenario Engine</a:t>
            </a:r>
          </a:p>
          <a:p>
            <a:pPr>
              <a:defRPr sz="950">
                <a:solidFill>
                  <a:srgbClr val="334155"/>
                </a:solidFill>
              </a:defRPr>
            </a:pPr>
            <a:r>
              <a:t>Includes 1-click preset profiles for rapid testing: Global Powerhouse (USA/China), Mid-Tier Contender (Netherlands/Brazil), and Emerging Delegation. Enables examiners to immediately test realistic profiles.</a:t>
            </a:r>
          </a:p>
        </p:txBody>
      </p:sp>
      <p:sp>
        <p:nvSpPr>
          <p:cNvPr id="8" name="Rounded Rectangle 7"/>
          <p:cNvSpPr/>
          <p:nvPr/>
        </p:nvSpPr>
        <p:spPr>
          <a:xfrm>
            <a:off x="731520" y="3072384"/>
            <a:ext cx="10698480" cy="7315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3. Wide Dashboard Layout</a:t>
            </a:r>
          </a:p>
          <a:p>
            <a:pPr>
              <a:defRPr sz="950">
                <a:solidFill>
                  <a:srgbClr val="334155"/>
                </a:solidFill>
              </a:defRPr>
            </a:pPr>
            <a:r>
              <a:t>Configured with st.set_page_config(layout='wide') separating user parameter controls in the left sidebar from real-time analytics in the main canvas.</a:t>
            </a:r>
          </a:p>
        </p:txBody>
      </p:sp>
      <p:sp>
        <p:nvSpPr>
          <p:cNvPr id="9" name="Rounded Rectangle 8"/>
          <p:cNvSpPr/>
          <p:nvPr/>
        </p:nvSpPr>
        <p:spPr>
          <a:xfrm>
            <a:off x="731520" y="3877056"/>
            <a:ext cx="10698480" cy="7315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4. Dual Model Inference Engine</a:t>
            </a:r>
          </a:p>
          <a:p>
            <a:pPr>
              <a:defRPr sz="950">
                <a:solidFill>
                  <a:srgbClr val="334155"/>
                </a:solidFill>
              </a:defRPr>
            </a:pPr>
            <a:r>
              <a:t>Simultaneously executes Random Forest classification for podium probability and Gradient Boosting regression for exact medal count forecasting.</a:t>
            </a:r>
          </a:p>
        </p:txBody>
      </p:sp>
      <p:sp>
        <p:nvSpPr>
          <p:cNvPr id="10" name="Rounded Rectangle 9"/>
          <p:cNvSpPr/>
          <p:nvPr/>
        </p:nvSpPr>
        <p:spPr>
          <a:xfrm>
            <a:off x="731520" y="4681728"/>
            <a:ext cx="10698480" cy="7315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5. Diagnostic Benchmark Comparison</a:t>
            </a:r>
          </a:p>
          <a:p>
            <a:pPr>
              <a:defRPr sz="950">
                <a:solidFill>
                  <a:srgbClr val="334155"/>
                </a:solidFill>
              </a:defRPr>
            </a:pPr>
            <a:r>
              <a:t>Compares user-configured inputs directly against historical medians of medal-winning vs non-winning Olympic teams using responsive, theme-adaptive dataframes.</a:t>
            </a:r>
          </a:p>
        </p:txBody>
      </p:sp>
      <p:sp>
        <p:nvSpPr>
          <p:cNvPr id="11" name="Rounded Rectangle 10"/>
          <p:cNvSpPr/>
          <p:nvPr/>
        </p:nvSpPr>
        <p:spPr>
          <a:xfrm>
            <a:off x="731520" y="5486400"/>
            <a:ext cx="10698480" cy="73152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6. Research &amp; Factor Tabs</a:t>
            </a:r>
          </a:p>
          <a:p>
            <a:pPr>
              <a:defRPr sz="950">
                <a:solidFill>
                  <a:srgbClr val="334155"/>
                </a:solidFill>
              </a:defRPr>
            </a:pPr>
            <a:r>
              <a:t>Embedded tabs presenting Random Forest Gini importance charts, Pearson correlation rankings, and academic problem definitions.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Strategic Recommendations for Sports Organizations</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38328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1: Broaden Qualification</a:t>
            </a:r>
          </a:p>
          <a:p>
            <a:pPr>
              <a:spcBef>
                <a:spcPts val="1200"/>
              </a:spcBef>
              <a:defRPr sz="1100" b="1">
                <a:solidFill>
                  <a:srgbClr val="0F172A"/>
                </a:solidFill>
              </a:defRPr>
            </a:pPr>
            <a:r>
              <a:t>The Roster Threshold</a:t>
            </a:r>
          </a:p>
          <a:p>
            <a:pPr>
              <a:defRPr sz="950">
                <a:solidFill>
                  <a:srgbClr val="334155"/>
                </a:solidFill>
              </a:defRPr>
            </a:pPr>
            <a:r>
              <a:t>Teams with &lt;15 athletes win medals &lt;5% of the time. Scaling roster to &gt;45 athletes raises podium odds past 65%.</a:t>
            </a:r>
          </a:p>
          <a:p>
            <a:pPr>
              <a:spcBef>
                <a:spcPts val="1200"/>
              </a:spcBef>
              <a:defRPr sz="1100" b="1">
                <a:solidFill>
                  <a:srgbClr val="0F172A"/>
                </a:solidFill>
              </a:defRPr>
            </a:pPr>
            <a:r>
              <a:t>Expand Discipline Breadth</a:t>
            </a:r>
          </a:p>
          <a:p>
            <a:pPr>
              <a:defRPr sz="950">
                <a:solidFill>
                  <a:srgbClr val="334155"/>
                </a:solidFill>
              </a:defRPr>
            </a:pPr>
            <a:r>
              <a:t>Instead of over-investing in a single sport, expanding into 2-3 additional disciplines significantly reduces qualification volatility.</a:t>
            </a:r>
          </a:p>
        </p:txBody>
      </p:sp>
      <p:sp>
        <p:nvSpPr>
          <p:cNvPr id="7" name="Rounded Rectangle 6"/>
          <p:cNvSpPr/>
          <p:nvPr/>
        </p:nvSpPr>
        <p:spPr>
          <a:xfrm>
            <a:off x="4389120" y="1554480"/>
            <a:ext cx="338328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2: Sustain Funding Cycles</a:t>
            </a:r>
          </a:p>
          <a:p>
            <a:pPr>
              <a:spcBef>
                <a:spcPts val="1200"/>
              </a:spcBef>
              <a:defRPr sz="1100" b="1">
                <a:solidFill>
                  <a:srgbClr val="0F172A"/>
                </a:solidFill>
              </a:defRPr>
            </a:pPr>
            <a:r>
              <a:t>Quadrennial Momentum</a:t>
            </a:r>
          </a:p>
          <a:p>
            <a:pPr>
              <a:defRPr sz="950">
                <a:solidFill>
                  <a:srgbClr val="334155"/>
                </a:solidFill>
              </a:defRPr>
            </a:pPr>
            <a:r>
              <a:t>Historical medals won carries r = 0.901 correlation with current output. Funding cuts after a poor Olympiad cause catastrophic multi-cycle decay.</a:t>
            </a:r>
          </a:p>
          <a:p>
            <a:pPr>
              <a:spcBef>
                <a:spcPts val="1200"/>
              </a:spcBef>
              <a:defRPr sz="1100" b="1">
                <a:solidFill>
                  <a:srgbClr val="0F172A"/>
                </a:solidFill>
              </a:defRPr>
            </a:pPr>
            <a:r>
              <a:t>Protect Youth Pipelines</a:t>
            </a:r>
          </a:p>
          <a:p>
            <a:pPr>
              <a:defRPr sz="950">
                <a:solidFill>
                  <a:srgbClr val="334155"/>
                </a:solidFill>
              </a:defRPr>
            </a:pPr>
            <a:r>
              <a:t>Retaining elite coaching staff preserves institutional knowledge regardless of individual athlete retirement.</a:t>
            </a:r>
          </a:p>
        </p:txBody>
      </p:sp>
      <p:sp>
        <p:nvSpPr>
          <p:cNvPr id="8" name="Rounded Rectangle 7"/>
          <p:cNvSpPr/>
          <p:nvPr/>
        </p:nvSpPr>
        <p:spPr>
          <a:xfrm>
            <a:off x="8046720" y="1554480"/>
            <a:ext cx="3383280" cy="47548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3: Leverage Host Opportunities</a:t>
            </a:r>
          </a:p>
          <a:p>
            <a:pPr>
              <a:spcBef>
                <a:spcPts val="1200"/>
              </a:spcBef>
              <a:defRPr sz="1100" b="1">
                <a:solidFill>
                  <a:srgbClr val="0F172A"/>
                </a:solidFill>
              </a:defRPr>
            </a:pPr>
            <a:r>
              <a:t>Maximize Quota Allowances</a:t>
            </a:r>
          </a:p>
          <a:p>
            <a:pPr>
              <a:defRPr sz="950">
                <a:solidFill>
                  <a:srgbClr val="334155"/>
                </a:solidFill>
              </a:defRPr>
            </a:pPr>
            <a:r>
              <a:t>Host nations receive automatic qualification quotas. Successfully converting these into permanent infrastructure yields lasting competitive advantages.</a:t>
            </a:r>
          </a:p>
          <a:p>
            <a:pPr>
              <a:spcBef>
                <a:spcPts val="1200"/>
              </a:spcBef>
              <a:defRPr sz="1100" b="1">
                <a:solidFill>
                  <a:srgbClr val="0F172A"/>
                </a:solidFill>
              </a:defRPr>
            </a:pPr>
            <a:r>
              <a:t>Historical Lift</a:t>
            </a:r>
          </a:p>
          <a:p>
            <a:pPr>
              <a:defRPr sz="950">
                <a:solidFill>
                  <a:srgbClr val="334155"/>
                </a:solidFill>
              </a:defRPr>
            </a:pPr>
            <a:r>
              <a:t>Hosts gain an empirical +4.12 medal lift through crowd familiarity, home facilities, and expanded athlete rosters.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Limitations &amp; Future Extensions</a:t>
            </a:r>
          </a:p>
        </p:txBody>
      </p:sp>
      <p:sp>
        <p:nvSpPr>
          <p:cNvPr id="5" name="Rectangle 4"/>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1: Geopolitical Shocks &amp; Boycotts</a:t>
            </a:r>
          </a:p>
          <a:p>
            <a:pPr>
              <a:defRPr sz="950">
                <a:solidFill>
                  <a:srgbClr val="334155"/>
                </a:solidFill>
              </a:defRPr>
            </a:pPr>
            <a:r>
              <a:t>Historical boycotts (e.g., Moscow 1980, Los Angeles 1984) artificially inflated and deflated medal distributions for participating nations.</a:t>
            </a:r>
          </a:p>
        </p:txBody>
      </p:sp>
      <p:sp>
        <p:nvSpPr>
          <p:cNvPr id="7" name="Rounded Rectangle 6"/>
          <p:cNvSpPr/>
          <p:nvPr/>
        </p:nvSpPr>
        <p:spPr>
          <a:xfrm>
            <a:off x="731520" y="242316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2: Delegation-Level Aggregation Loss</a:t>
            </a:r>
          </a:p>
          <a:p>
            <a:pPr>
              <a:defRPr sz="950">
                <a:solidFill>
                  <a:srgbClr val="334155"/>
                </a:solidFill>
              </a:defRPr>
            </a:pPr>
            <a:r>
              <a:t>Averaging athlete biometrics (height, weight) across a national delegation aggregates dissimilar sports together, masking sport-specific biometric advantages (e.g. Basketball vs Gymnastics).</a:t>
            </a:r>
          </a:p>
        </p:txBody>
      </p:sp>
      <p:sp>
        <p:nvSpPr>
          <p:cNvPr id="8" name="Rounded Rectangle 7"/>
          <p:cNvSpPr/>
          <p:nvPr/>
        </p:nvSpPr>
        <p:spPr>
          <a:xfrm>
            <a:off x="731520" y="338328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3: Financial &amp; Economic Exogenous Factors</a:t>
            </a:r>
          </a:p>
          <a:p>
            <a:pPr>
              <a:defRPr sz="950">
                <a:solidFill>
                  <a:srgbClr val="334155"/>
                </a:solidFill>
              </a:defRPr>
            </a:pPr>
            <a:r>
              <a:t>National GDP, public sports expenditure, and private sponsorship datasets were omitted to maintain focus on roster-level operational metrics.</a:t>
            </a:r>
          </a:p>
        </p:txBody>
      </p:sp>
      <p:sp>
        <p:nvSpPr>
          <p:cNvPr id="9" name="Rounded Rectangle 8"/>
          <p:cNvSpPr/>
          <p:nvPr/>
        </p:nvSpPr>
        <p:spPr>
          <a:xfrm>
            <a:off x="731520" y="434340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1: Sport-Specific Hierarchical Modeling</a:t>
            </a:r>
          </a:p>
          <a:p>
            <a:pPr>
              <a:defRPr sz="950">
                <a:solidFill>
                  <a:srgbClr val="334155"/>
                </a:solidFill>
              </a:defRPr>
            </a:pPr>
            <a:r>
              <a:t>Develop sport-discipline level sub-models (e.g. Swimming-specific model vs Track-and-Field model) to capture micro-level biometric advantages.</a:t>
            </a:r>
          </a:p>
        </p:txBody>
      </p:sp>
      <p:sp>
        <p:nvSpPr>
          <p:cNvPr id="10" name="Rounded Rectangle 9"/>
          <p:cNvSpPr/>
          <p:nvPr/>
        </p:nvSpPr>
        <p:spPr>
          <a:xfrm>
            <a:off x="731520" y="5303520"/>
            <a:ext cx="10698480" cy="868680"/>
          </a:xfrm>
          <a:prstGeom prst="roundRect">
            <a:avLst/>
          </a:prstGeom>
          <a:no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2: Real-Time Event-Level Simulations</a:t>
            </a:r>
          </a:p>
          <a:p>
            <a:pPr>
              <a:defRPr sz="950">
                <a:solidFill>
                  <a:srgbClr val="334155"/>
                </a:solidFill>
              </a:defRPr>
            </a:pPr>
            <a:r>
              <a:t>Integrate tournament bracket simulations to predict head-to-head match outcomes rather than solely aggregate delegation medal counts.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4114800"/>
          </a:xfrm>
          <a:prstGeom prst="rect">
            <a:avLst/>
          </a:prstGeom>
          <a:noFill/>
        </p:spPr>
        <p:txBody>
          <a:bodyPr wrap="square">
            <a:spAutoFit/>
          </a:bodyPr>
          <a:lstStyle/>
          <a:p>
            <a:pPr>
              <a:defRPr sz="1100" b="1">
                <a:solidFill>
                  <a:srgbClr val="93C5FD"/>
                </a:solidFill>
              </a:defRPr>
            </a:pPr>
            <a:r>
              <a:t>CASE STUDY: TEAM PERFORMANCE ANALYSIS</a:t>
            </a:r>
          </a:p>
          <a:p>
            <a:pPr>
              <a:spcBef>
                <a:spcPts val="800"/>
              </a:spcBef>
              <a:defRPr sz="4400" b="1">
                <a:solidFill>
                  <a:srgbClr val="FFFFFF"/>
                </a:solidFill>
              </a:defRPr>
            </a:pPr>
            <a:r>
              <a:t>Thank You</a:t>
            </a:r>
          </a:p>
          <a:p>
            <a:pPr>
              <a:spcBef>
                <a:spcPts val="600"/>
              </a:spcBef>
              <a:defRPr sz="2000">
                <a:solidFill>
                  <a:srgbClr val="CBD5E1"/>
                </a:solidFill>
              </a:defRPr>
            </a:pPr>
            <a:r>
              <a:t>Team Performance Analysis - Olympic Machine Learning</a:t>
            </a:r>
          </a:p>
          <a:p>
            <a:pPr>
              <a:spcBef>
                <a:spcPts val="2200"/>
              </a:spcBef>
              <a:defRPr sz="1300">
                <a:solidFill>
                  <a:srgbClr val="94A3B8"/>
                </a:solidFill>
              </a:defRPr>
            </a:pPr>
            <a:r>
              <a:t>Candidate: R Virshin | Roll No: 150096724147</a:t>
            </a:r>
            <a:br/>
            <a:r>
              <a:t>ITM Skills University | School of Future Tech | B.Tech CSE Semester V</a:t>
            </a:r>
          </a:p>
          <a:p>
            <a:pPr>
              <a:spcBef>
                <a:spcPts val="1800"/>
              </a:spcBef>
              <a:defRPr sz="1200" b="1">
                <a:solidFill>
                  <a:srgbClr val="60A5FA"/>
                </a:solidFill>
              </a:defRPr>
            </a:pPr>
            <a:r>
              <a:t>Live Web Application: https://virshin1-team-performance-analysis-app-kwvw1u.streamlit.app/</a:t>
            </a:r>
            <a:br/>
            <a:r>
              <a:t>GitHub Source: https://github.com/Virshin1/Team-Performance-Analysis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